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70" r:id="rId2"/>
    <p:sldId id="273" r:id="rId3"/>
    <p:sldId id="276" r:id="rId4"/>
    <p:sldId id="278" r:id="rId5"/>
    <p:sldId id="277" r:id="rId6"/>
    <p:sldId id="279" r:id="rId7"/>
    <p:sldId id="281" r:id="rId8"/>
    <p:sldId id="282" r:id="rId9"/>
    <p:sldId id="283" r:id="rId10"/>
    <p:sldId id="284" r:id="rId11"/>
    <p:sldId id="285" r:id="rId12"/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7" r:id="rId20"/>
    <p:sldId id="268" r:id="rId21"/>
    <p:sldId id="263" r:id="rId22"/>
    <p:sldId id="264" r:id="rId23"/>
    <p:sldId id="269" r:id="rId24"/>
    <p:sldId id="265" r:id="rId25"/>
    <p:sldId id="290" r:id="rId26"/>
    <p:sldId id="286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052" autoAdjust="0"/>
  </p:normalViewPr>
  <p:slideViewPr>
    <p:cSldViewPr snapToGrid="0">
      <p:cViewPr varScale="1">
        <p:scale>
          <a:sx n="70" d="100"/>
          <a:sy n="70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54871A-308D-4391-8C8B-C9EC11038C40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AF624BD-C00D-42A8-8FFD-FF0FE2D79A71}">
      <dgm:prSet/>
      <dgm:spPr/>
      <dgm:t>
        <a:bodyPr/>
        <a:lstStyle/>
        <a:p>
          <a:r>
            <a:rPr lang="hr-HR" b="1"/>
            <a:t>Gost:</a:t>
          </a:r>
          <a:endParaRPr lang="en-US"/>
        </a:p>
      </dgm:t>
    </dgm:pt>
    <dgm:pt modelId="{E490B803-5584-43F0-B609-5BFCDEFA3C86}" type="parTrans" cxnId="{49077519-5DDC-4AC2-8370-B6CFD6638F84}">
      <dgm:prSet/>
      <dgm:spPr/>
      <dgm:t>
        <a:bodyPr/>
        <a:lstStyle/>
        <a:p>
          <a:endParaRPr lang="en-US"/>
        </a:p>
      </dgm:t>
    </dgm:pt>
    <dgm:pt modelId="{FC87F52B-C207-4E73-9686-EFD3001F6AA3}" type="sibTrans" cxnId="{49077519-5DDC-4AC2-8370-B6CFD6638F84}">
      <dgm:prSet/>
      <dgm:spPr/>
      <dgm:t>
        <a:bodyPr/>
        <a:lstStyle/>
        <a:p>
          <a:endParaRPr lang="en-US"/>
        </a:p>
      </dgm:t>
    </dgm:pt>
    <dgm:pt modelId="{BCD35450-EDB5-44E3-A090-D74A8E1A5B30}">
      <dgm:prSet/>
      <dgm:spPr/>
      <dgm:t>
        <a:bodyPr/>
        <a:lstStyle/>
        <a:p>
          <a:r>
            <a:rPr lang="hr-HR"/>
            <a:t>Pregled oglasa </a:t>
          </a:r>
          <a:endParaRPr lang="en-US"/>
        </a:p>
      </dgm:t>
    </dgm:pt>
    <dgm:pt modelId="{30821433-19B3-40D7-B868-1A6EA0B4868F}" type="parTrans" cxnId="{13A407BE-ED49-47F8-A8B1-77C353E5AB12}">
      <dgm:prSet/>
      <dgm:spPr/>
      <dgm:t>
        <a:bodyPr/>
        <a:lstStyle/>
        <a:p>
          <a:endParaRPr lang="en-US"/>
        </a:p>
      </dgm:t>
    </dgm:pt>
    <dgm:pt modelId="{FBC3DA12-3B8A-4DCA-918E-CBCD1499DB2A}" type="sibTrans" cxnId="{13A407BE-ED49-47F8-A8B1-77C353E5AB12}">
      <dgm:prSet/>
      <dgm:spPr/>
      <dgm:t>
        <a:bodyPr/>
        <a:lstStyle/>
        <a:p>
          <a:endParaRPr lang="en-US"/>
        </a:p>
      </dgm:t>
    </dgm:pt>
    <dgm:pt modelId="{C885F3AF-A176-4038-9DF5-BD6D73FAAE74}">
      <dgm:prSet/>
      <dgm:spPr/>
      <dgm:t>
        <a:bodyPr/>
        <a:lstStyle/>
        <a:p>
          <a:r>
            <a:rPr lang="hr-HR"/>
            <a:t>Pretraga i filtriranje oglasa </a:t>
          </a:r>
          <a:endParaRPr lang="en-US"/>
        </a:p>
      </dgm:t>
    </dgm:pt>
    <dgm:pt modelId="{9DC0ADD1-6C24-4042-83BE-8E5F1DBF8965}" type="parTrans" cxnId="{D5810242-3673-43A4-A11C-80B24E968120}">
      <dgm:prSet/>
      <dgm:spPr/>
      <dgm:t>
        <a:bodyPr/>
        <a:lstStyle/>
        <a:p>
          <a:endParaRPr lang="en-US"/>
        </a:p>
      </dgm:t>
    </dgm:pt>
    <dgm:pt modelId="{C292026E-81C0-4442-B79E-28B3E87838A9}" type="sibTrans" cxnId="{D5810242-3673-43A4-A11C-80B24E968120}">
      <dgm:prSet/>
      <dgm:spPr/>
      <dgm:t>
        <a:bodyPr/>
        <a:lstStyle/>
        <a:p>
          <a:endParaRPr lang="en-US"/>
        </a:p>
      </dgm:t>
    </dgm:pt>
    <dgm:pt modelId="{3DCE2F85-815A-47BD-8FF0-18109D57A40E}">
      <dgm:prSet/>
      <dgm:spPr/>
      <dgm:t>
        <a:bodyPr/>
        <a:lstStyle/>
        <a:p>
          <a:r>
            <a:rPr lang="hr-HR"/>
            <a:t>Pregled detalja proizvoda </a:t>
          </a:r>
          <a:endParaRPr lang="en-US"/>
        </a:p>
      </dgm:t>
    </dgm:pt>
    <dgm:pt modelId="{60C44BDC-2269-4CD5-9FF4-21CF46DD4B9E}" type="parTrans" cxnId="{3D28D691-919B-49AD-818A-4FBB2032634D}">
      <dgm:prSet/>
      <dgm:spPr/>
      <dgm:t>
        <a:bodyPr/>
        <a:lstStyle/>
        <a:p>
          <a:endParaRPr lang="en-US"/>
        </a:p>
      </dgm:t>
    </dgm:pt>
    <dgm:pt modelId="{0ACF2122-3E81-4EAC-8362-49ECAF471699}" type="sibTrans" cxnId="{3D28D691-919B-49AD-818A-4FBB2032634D}">
      <dgm:prSet/>
      <dgm:spPr/>
      <dgm:t>
        <a:bodyPr/>
        <a:lstStyle/>
        <a:p>
          <a:endParaRPr lang="en-US"/>
        </a:p>
      </dgm:t>
    </dgm:pt>
    <dgm:pt modelId="{D773FCCE-BB8C-4CFB-A32C-D7551E19F072}">
      <dgm:prSet/>
      <dgm:spPr/>
      <dgm:t>
        <a:bodyPr/>
        <a:lstStyle/>
        <a:p>
          <a:r>
            <a:rPr lang="hr-HR"/>
            <a:t>Registracija </a:t>
          </a:r>
          <a:endParaRPr lang="en-US"/>
        </a:p>
      </dgm:t>
    </dgm:pt>
    <dgm:pt modelId="{1B1069CF-64A7-4FE2-A747-C420F9206B6D}" type="parTrans" cxnId="{1A19E46A-A042-45CE-8424-88F797342D55}">
      <dgm:prSet/>
      <dgm:spPr/>
      <dgm:t>
        <a:bodyPr/>
        <a:lstStyle/>
        <a:p>
          <a:endParaRPr lang="en-US"/>
        </a:p>
      </dgm:t>
    </dgm:pt>
    <dgm:pt modelId="{951FE3EC-C2B7-4F9F-AD77-1C04140B7509}" type="sibTrans" cxnId="{1A19E46A-A042-45CE-8424-88F797342D55}">
      <dgm:prSet/>
      <dgm:spPr/>
      <dgm:t>
        <a:bodyPr/>
        <a:lstStyle/>
        <a:p>
          <a:endParaRPr lang="en-US"/>
        </a:p>
      </dgm:t>
    </dgm:pt>
    <dgm:pt modelId="{00761361-8EAE-4912-992E-375EA0A1B06B}">
      <dgm:prSet/>
      <dgm:spPr/>
      <dgm:t>
        <a:bodyPr/>
        <a:lstStyle/>
        <a:p>
          <a:r>
            <a:rPr lang="hr-HR" b="1"/>
            <a:t>Administrator:</a:t>
          </a:r>
          <a:endParaRPr lang="en-US"/>
        </a:p>
      </dgm:t>
    </dgm:pt>
    <dgm:pt modelId="{70983EB7-9F09-496E-8CC4-60F2132FC8B8}" type="parTrans" cxnId="{3ED850C4-3BB5-4923-82CB-12547359F959}">
      <dgm:prSet/>
      <dgm:spPr/>
      <dgm:t>
        <a:bodyPr/>
        <a:lstStyle/>
        <a:p>
          <a:endParaRPr lang="en-US"/>
        </a:p>
      </dgm:t>
    </dgm:pt>
    <dgm:pt modelId="{85F495C0-0D51-44B7-AA4B-B8F6F24CBDD3}" type="sibTrans" cxnId="{3ED850C4-3BB5-4923-82CB-12547359F959}">
      <dgm:prSet/>
      <dgm:spPr/>
      <dgm:t>
        <a:bodyPr/>
        <a:lstStyle/>
        <a:p>
          <a:endParaRPr lang="en-US"/>
        </a:p>
      </dgm:t>
    </dgm:pt>
    <dgm:pt modelId="{13DDE416-2B97-4577-B550-41F6E24FDD9E}">
      <dgm:prSet/>
      <dgm:spPr/>
      <dgm:t>
        <a:bodyPr/>
        <a:lstStyle/>
        <a:p>
          <a:r>
            <a:rPr lang="hr-HR"/>
            <a:t>Upravljanje korisnicima </a:t>
          </a:r>
          <a:endParaRPr lang="en-US"/>
        </a:p>
      </dgm:t>
    </dgm:pt>
    <dgm:pt modelId="{3E9FA114-B891-4EC5-8F41-038407B09671}" type="parTrans" cxnId="{3F8D8B1C-5A25-4C18-A4A2-B58B93F96656}">
      <dgm:prSet/>
      <dgm:spPr/>
      <dgm:t>
        <a:bodyPr/>
        <a:lstStyle/>
        <a:p>
          <a:endParaRPr lang="en-US"/>
        </a:p>
      </dgm:t>
    </dgm:pt>
    <dgm:pt modelId="{EC048228-311A-4B2C-9F8B-BB0ACDB19DB8}" type="sibTrans" cxnId="{3F8D8B1C-5A25-4C18-A4A2-B58B93F96656}">
      <dgm:prSet/>
      <dgm:spPr/>
      <dgm:t>
        <a:bodyPr/>
        <a:lstStyle/>
        <a:p>
          <a:endParaRPr lang="en-US"/>
        </a:p>
      </dgm:t>
    </dgm:pt>
    <dgm:pt modelId="{36B52579-F4FC-4577-B52E-11647D02A465}">
      <dgm:prSet/>
      <dgm:spPr/>
      <dgm:t>
        <a:bodyPr/>
        <a:lstStyle/>
        <a:p>
          <a:r>
            <a:rPr lang="hr-HR"/>
            <a:t>Upravljanje prijavljenim oglasima </a:t>
          </a:r>
          <a:endParaRPr lang="en-US"/>
        </a:p>
      </dgm:t>
    </dgm:pt>
    <dgm:pt modelId="{C854EF3B-F30B-4EA1-B54B-2AA19B2D7110}" type="parTrans" cxnId="{4E2ABDF5-9068-4985-8336-F176755E1DA6}">
      <dgm:prSet/>
      <dgm:spPr/>
      <dgm:t>
        <a:bodyPr/>
        <a:lstStyle/>
        <a:p>
          <a:endParaRPr lang="en-US"/>
        </a:p>
      </dgm:t>
    </dgm:pt>
    <dgm:pt modelId="{E5553955-8EC9-4926-ADF6-ECEC315F3BBB}" type="sibTrans" cxnId="{4E2ABDF5-9068-4985-8336-F176755E1DA6}">
      <dgm:prSet/>
      <dgm:spPr/>
      <dgm:t>
        <a:bodyPr/>
        <a:lstStyle/>
        <a:p>
          <a:endParaRPr lang="en-US"/>
        </a:p>
      </dgm:t>
    </dgm:pt>
    <dgm:pt modelId="{7D85E62C-A58A-40CD-93F1-3572C5EDD15F}">
      <dgm:prSet/>
      <dgm:spPr/>
      <dgm:t>
        <a:bodyPr/>
        <a:lstStyle/>
        <a:p>
          <a:r>
            <a:rPr lang="hr-HR"/>
            <a:t>Brisanje neprimjerenog sadržaja </a:t>
          </a:r>
          <a:endParaRPr lang="en-US"/>
        </a:p>
      </dgm:t>
    </dgm:pt>
    <dgm:pt modelId="{B8D3CD0E-8E79-40B4-A9E8-3D68A266A17D}" type="parTrans" cxnId="{6FDEA00B-2357-450C-8411-02043E1B195F}">
      <dgm:prSet/>
      <dgm:spPr/>
      <dgm:t>
        <a:bodyPr/>
        <a:lstStyle/>
        <a:p>
          <a:endParaRPr lang="en-US"/>
        </a:p>
      </dgm:t>
    </dgm:pt>
    <dgm:pt modelId="{C55020C6-12A2-4BCF-93C8-62D023D3098F}" type="sibTrans" cxnId="{6FDEA00B-2357-450C-8411-02043E1B195F}">
      <dgm:prSet/>
      <dgm:spPr/>
      <dgm:t>
        <a:bodyPr/>
        <a:lstStyle/>
        <a:p>
          <a:endParaRPr lang="en-US"/>
        </a:p>
      </dgm:t>
    </dgm:pt>
    <dgm:pt modelId="{6EA75CBA-1EC5-4C6B-BA4C-E792787721BA}" type="pres">
      <dgm:prSet presAssocID="{9E54871A-308D-4391-8C8B-C9EC11038C40}" presName="Name0" presStyleCnt="0">
        <dgm:presLayoutVars>
          <dgm:dir/>
          <dgm:animLvl val="lvl"/>
          <dgm:resizeHandles val="exact"/>
        </dgm:presLayoutVars>
      </dgm:prSet>
      <dgm:spPr/>
    </dgm:pt>
    <dgm:pt modelId="{C013AAD2-EAFD-4F45-B9AA-A64C1623253A}" type="pres">
      <dgm:prSet presAssocID="{DAF624BD-C00D-42A8-8FFD-FF0FE2D79A71}" presName="linNode" presStyleCnt="0"/>
      <dgm:spPr/>
    </dgm:pt>
    <dgm:pt modelId="{ED7F45D3-60CB-44EA-9248-04507ACDF24D}" type="pres">
      <dgm:prSet presAssocID="{DAF624BD-C00D-42A8-8FFD-FF0FE2D79A7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98EAD29-8857-4CBE-BBAD-676F34F03C54}" type="pres">
      <dgm:prSet presAssocID="{DAF624BD-C00D-42A8-8FFD-FF0FE2D79A71}" presName="descendantText" presStyleLbl="alignAccFollowNode1" presStyleIdx="0" presStyleCnt="2">
        <dgm:presLayoutVars>
          <dgm:bulletEnabled val="1"/>
        </dgm:presLayoutVars>
      </dgm:prSet>
      <dgm:spPr/>
    </dgm:pt>
    <dgm:pt modelId="{CFF51D6E-CA4B-473B-A880-BB4C2DC398E0}" type="pres">
      <dgm:prSet presAssocID="{FC87F52B-C207-4E73-9686-EFD3001F6AA3}" presName="sp" presStyleCnt="0"/>
      <dgm:spPr/>
    </dgm:pt>
    <dgm:pt modelId="{53753332-9CFE-4FD1-916A-B1FEE6EC8359}" type="pres">
      <dgm:prSet presAssocID="{00761361-8EAE-4912-992E-375EA0A1B06B}" presName="linNode" presStyleCnt="0"/>
      <dgm:spPr/>
    </dgm:pt>
    <dgm:pt modelId="{DBCD232C-F1E6-49FB-8961-B67225566169}" type="pres">
      <dgm:prSet presAssocID="{00761361-8EAE-4912-992E-375EA0A1B06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A1C5835-4FB4-47F1-BC9F-202070DFFA40}" type="pres">
      <dgm:prSet presAssocID="{00761361-8EAE-4912-992E-375EA0A1B06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618030A-AB54-42D7-9030-0DE018C3EDA9}" type="presOf" srcId="{13DDE416-2B97-4577-B550-41F6E24FDD9E}" destId="{7A1C5835-4FB4-47F1-BC9F-202070DFFA40}" srcOrd="0" destOrd="0" presId="urn:microsoft.com/office/officeart/2005/8/layout/vList5"/>
    <dgm:cxn modelId="{6FDEA00B-2357-450C-8411-02043E1B195F}" srcId="{00761361-8EAE-4912-992E-375EA0A1B06B}" destId="{7D85E62C-A58A-40CD-93F1-3572C5EDD15F}" srcOrd="2" destOrd="0" parTransId="{B8D3CD0E-8E79-40B4-A9E8-3D68A266A17D}" sibTransId="{C55020C6-12A2-4BCF-93C8-62D023D3098F}"/>
    <dgm:cxn modelId="{49077519-5DDC-4AC2-8370-B6CFD6638F84}" srcId="{9E54871A-308D-4391-8C8B-C9EC11038C40}" destId="{DAF624BD-C00D-42A8-8FFD-FF0FE2D79A71}" srcOrd="0" destOrd="0" parTransId="{E490B803-5584-43F0-B609-5BFCDEFA3C86}" sibTransId="{FC87F52B-C207-4E73-9686-EFD3001F6AA3}"/>
    <dgm:cxn modelId="{3F8D8B1C-5A25-4C18-A4A2-B58B93F96656}" srcId="{00761361-8EAE-4912-992E-375EA0A1B06B}" destId="{13DDE416-2B97-4577-B550-41F6E24FDD9E}" srcOrd="0" destOrd="0" parTransId="{3E9FA114-B891-4EC5-8F41-038407B09671}" sibTransId="{EC048228-311A-4B2C-9F8B-BB0ACDB19DB8}"/>
    <dgm:cxn modelId="{7178431F-1D5D-4C6C-9697-6A20FDAE14CF}" type="presOf" srcId="{9E54871A-308D-4391-8C8B-C9EC11038C40}" destId="{6EA75CBA-1EC5-4C6B-BA4C-E792787721BA}" srcOrd="0" destOrd="0" presId="urn:microsoft.com/office/officeart/2005/8/layout/vList5"/>
    <dgm:cxn modelId="{D5810242-3673-43A4-A11C-80B24E968120}" srcId="{DAF624BD-C00D-42A8-8FFD-FF0FE2D79A71}" destId="{C885F3AF-A176-4038-9DF5-BD6D73FAAE74}" srcOrd="1" destOrd="0" parTransId="{9DC0ADD1-6C24-4042-83BE-8E5F1DBF8965}" sibTransId="{C292026E-81C0-4442-B79E-28B3E87838A9}"/>
    <dgm:cxn modelId="{BAD83446-4FA5-4A42-AB9A-F4780F5DC1E6}" type="presOf" srcId="{36B52579-F4FC-4577-B52E-11647D02A465}" destId="{7A1C5835-4FB4-47F1-BC9F-202070DFFA40}" srcOrd="0" destOrd="1" presId="urn:microsoft.com/office/officeart/2005/8/layout/vList5"/>
    <dgm:cxn modelId="{1A19E46A-A042-45CE-8424-88F797342D55}" srcId="{DAF624BD-C00D-42A8-8FFD-FF0FE2D79A71}" destId="{D773FCCE-BB8C-4CFB-A32C-D7551E19F072}" srcOrd="3" destOrd="0" parTransId="{1B1069CF-64A7-4FE2-A747-C420F9206B6D}" sibTransId="{951FE3EC-C2B7-4F9F-AD77-1C04140B7509}"/>
    <dgm:cxn modelId="{A137D14E-4493-483B-AD8B-D6D4079A14E1}" type="presOf" srcId="{00761361-8EAE-4912-992E-375EA0A1B06B}" destId="{DBCD232C-F1E6-49FB-8961-B67225566169}" srcOrd="0" destOrd="0" presId="urn:microsoft.com/office/officeart/2005/8/layout/vList5"/>
    <dgm:cxn modelId="{9F4B987D-FE7A-4F95-9B84-CB2189812758}" type="presOf" srcId="{D773FCCE-BB8C-4CFB-A32C-D7551E19F072}" destId="{A98EAD29-8857-4CBE-BBAD-676F34F03C54}" srcOrd="0" destOrd="3" presId="urn:microsoft.com/office/officeart/2005/8/layout/vList5"/>
    <dgm:cxn modelId="{DE9E187F-F87F-4885-B87A-888C507B4118}" type="presOf" srcId="{DAF624BD-C00D-42A8-8FFD-FF0FE2D79A71}" destId="{ED7F45D3-60CB-44EA-9248-04507ACDF24D}" srcOrd="0" destOrd="0" presId="urn:microsoft.com/office/officeart/2005/8/layout/vList5"/>
    <dgm:cxn modelId="{D296447F-3A99-421A-9A7F-1342FF54BE26}" type="presOf" srcId="{3DCE2F85-815A-47BD-8FF0-18109D57A40E}" destId="{A98EAD29-8857-4CBE-BBAD-676F34F03C54}" srcOrd="0" destOrd="2" presId="urn:microsoft.com/office/officeart/2005/8/layout/vList5"/>
    <dgm:cxn modelId="{3D28D691-919B-49AD-818A-4FBB2032634D}" srcId="{DAF624BD-C00D-42A8-8FFD-FF0FE2D79A71}" destId="{3DCE2F85-815A-47BD-8FF0-18109D57A40E}" srcOrd="2" destOrd="0" parTransId="{60C44BDC-2269-4CD5-9FF4-21CF46DD4B9E}" sibTransId="{0ACF2122-3E81-4EAC-8362-49ECAF471699}"/>
    <dgm:cxn modelId="{610DEB91-E4A4-4947-B8E4-FC61053BD3D0}" type="presOf" srcId="{BCD35450-EDB5-44E3-A090-D74A8E1A5B30}" destId="{A98EAD29-8857-4CBE-BBAD-676F34F03C54}" srcOrd="0" destOrd="0" presId="urn:microsoft.com/office/officeart/2005/8/layout/vList5"/>
    <dgm:cxn modelId="{BF9210A8-9C88-4435-B161-825F80B3624F}" type="presOf" srcId="{C885F3AF-A176-4038-9DF5-BD6D73FAAE74}" destId="{A98EAD29-8857-4CBE-BBAD-676F34F03C54}" srcOrd="0" destOrd="1" presId="urn:microsoft.com/office/officeart/2005/8/layout/vList5"/>
    <dgm:cxn modelId="{13A407BE-ED49-47F8-A8B1-77C353E5AB12}" srcId="{DAF624BD-C00D-42A8-8FFD-FF0FE2D79A71}" destId="{BCD35450-EDB5-44E3-A090-D74A8E1A5B30}" srcOrd="0" destOrd="0" parTransId="{30821433-19B3-40D7-B868-1A6EA0B4868F}" sibTransId="{FBC3DA12-3B8A-4DCA-918E-CBCD1499DB2A}"/>
    <dgm:cxn modelId="{3ED850C4-3BB5-4923-82CB-12547359F959}" srcId="{9E54871A-308D-4391-8C8B-C9EC11038C40}" destId="{00761361-8EAE-4912-992E-375EA0A1B06B}" srcOrd="1" destOrd="0" parTransId="{70983EB7-9F09-496E-8CC4-60F2132FC8B8}" sibTransId="{85F495C0-0D51-44B7-AA4B-B8F6F24CBDD3}"/>
    <dgm:cxn modelId="{4E2ABDF5-9068-4985-8336-F176755E1DA6}" srcId="{00761361-8EAE-4912-992E-375EA0A1B06B}" destId="{36B52579-F4FC-4577-B52E-11647D02A465}" srcOrd="1" destOrd="0" parTransId="{C854EF3B-F30B-4EA1-B54B-2AA19B2D7110}" sibTransId="{E5553955-8EC9-4926-ADF6-ECEC315F3BBB}"/>
    <dgm:cxn modelId="{906ADEFC-890B-4E83-9CE8-0F6A42EE7A46}" type="presOf" srcId="{7D85E62C-A58A-40CD-93F1-3572C5EDD15F}" destId="{7A1C5835-4FB4-47F1-BC9F-202070DFFA40}" srcOrd="0" destOrd="2" presId="urn:microsoft.com/office/officeart/2005/8/layout/vList5"/>
    <dgm:cxn modelId="{26C9A77C-8784-40F3-A0F1-96D8F64C7A5D}" type="presParOf" srcId="{6EA75CBA-1EC5-4C6B-BA4C-E792787721BA}" destId="{C013AAD2-EAFD-4F45-B9AA-A64C1623253A}" srcOrd="0" destOrd="0" presId="urn:microsoft.com/office/officeart/2005/8/layout/vList5"/>
    <dgm:cxn modelId="{AC592F1F-37AB-4510-993C-79C1F6CAC95B}" type="presParOf" srcId="{C013AAD2-EAFD-4F45-B9AA-A64C1623253A}" destId="{ED7F45D3-60CB-44EA-9248-04507ACDF24D}" srcOrd="0" destOrd="0" presId="urn:microsoft.com/office/officeart/2005/8/layout/vList5"/>
    <dgm:cxn modelId="{289F7FF4-2848-4A89-8D72-022BDD0006F3}" type="presParOf" srcId="{C013AAD2-EAFD-4F45-B9AA-A64C1623253A}" destId="{A98EAD29-8857-4CBE-BBAD-676F34F03C54}" srcOrd="1" destOrd="0" presId="urn:microsoft.com/office/officeart/2005/8/layout/vList5"/>
    <dgm:cxn modelId="{1E54DEEA-7F0E-49D0-899A-ACF4472657C7}" type="presParOf" srcId="{6EA75CBA-1EC5-4C6B-BA4C-E792787721BA}" destId="{CFF51D6E-CA4B-473B-A880-BB4C2DC398E0}" srcOrd="1" destOrd="0" presId="urn:microsoft.com/office/officeart/2005/8/layout/vList5"/>
    <dgm:cxn modelId="{7DE74FF8-1BFA-45D5-93CF-351DF1F8F02B}" type="presParOf" srcId="{6EA75CBA-1EC5-4C6B-BA4C-E792787721BA}" destId="{53753332-9CFE-4FD1-916A-B1FEE6EC8359}" srcOrd="2" destOrd="0" presId="urn:microsoft.com/office/officeart/2005/8/layout/vList5"/>
    <dgm:cxn modelId="{E1DDEA64-5A1A-4E6C-AD4E-60AF09B65855}" type="presParOf" srcId="{53753332-9CFE-4FD1-916A-B1FEE6EC8359}" destId="{DBCD232C-F1E6-49FB-8961-B67225566169}" srcOrd="0" destOrd="0" presId="urn:microsoft.com/office/officeart/2005/8/layout/vList5"/>
    <dgm:cxn modelId="{34724E57-2C6E-41C2-9E91-EFEF32AD3832}" type="presParOf" srcId="{53753332-9CFE-4FD1-916A-B1FEE6EC8359}" destId="{7A1C5835-4FB4-47F1-BC9F-202070DFFA4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EAD29-8857-4CBE-BBAD-676F34F03C54}">
      <dsp:nvSpPr>
        <dsp:cNvPr id="0" name=""/>
        <dsp:cNvSpPr/>
      </dsp:nvSpPr>
      <dsp:spPr>
        <a:xfrm rot="5400000">
          <a:off x="2886777" y="-632470"/>
          <a:ext cx="1862827" cy="3593591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Pregled oglasa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Pretraga i filtriranje oglasa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Pregled detalja proizvoda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Registracija </a:t>
          </a:r>
          <a:endParaRPr lang="en-US" sz="1900" kern="1200"/>
        </a:p>
      </dsp:txBody>
      <dsp:txXfrm rot="-5400000">
        <a:off x="2021395" y="323848"/>
        <a:ext cx="3502655" cy="1680955"/>
      </dsp:txXfrm>
    </dsp:sp>
    <dsp:sp modelId="{ED7F45D3-60CB-44EA-9248-04507ACDF24D}">
      <dsp:nvSpPr>
        <dsp:cNvPr id="0" name=""/>
        <dsp:cNvSpPr/>
      </dsp:nvSpPr>
      <dsp:spPr>
        <a:xfrm>
          <a:off x="0" y="58"/>
          <a:ext cx="2021395" cy="232853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b="1" kern="1200"/>
            <a:t>Gost:</a:t>
          </a:r>
          <a:endParaRPr lang="en-US" sz="1900" kern="1200"/>
        </a:p>
      </dsp:txBody>
      <dsp:txXfrm>
        <a:off x="98676" y="98734"/>
        <a:ext cx="1824043" cy="2131182"/>
      </dsp:txXfrm>
    </dsp:sp>
    <dsp:sp modelId="{7A1C5835-4FB4-47F1-BC9F-202070DFFA40}">
      <dsp:nvSpPr>
        <dsp:cNvPr id="0" name=""/>
        <dsp:cNvSpPr/>
      </dsp:nvSpPr>
      <dsp:spPr>
        <a:xfrm rot="5400000">
          <a:off x="2886777" y="1812491"/>
          <a:ext cx="1862827" cy="3593591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Upravljanje korisnicima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Upravljanje prijavljenim oglasima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Brisanje neprimjerenog sadržaja </a:t>
          </a:r>
          <a:endParaRPr lang="en-US" sz="1900" kern="1200"/>
        </a:p>
      </dsp:txBody>
      <dsp:txXfrm rot="-5400000">
        <a:off x="2021395" y="2768809"/>
        <a:ext cx="3502655" cy="1680955"/>
      </dsp:txXfrm>
    </dsp:sp>
    <dsp:sp modelId="{DBCD232C-F1E6-49FB-8961-B67225566169}">
      <dsp:nvSpPr>
        <dsp:cNvPr id="0" name=""/>
        <dsp:cNvSpPr/>
      </dsp:nvSpPr>
      <dsp:spPr>
        <a:xfrm>
          <a:off x="0" y="2445019"/>
          <a:ext cx="2021395" cy="232853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b="1" kern="1200"/>
            <a:t>Administrator:</a:t>
          </a:r>
          <a:endParaRPr lang="en-US" sz="1900" kern="1200"/>
        </a:p>
      </dsp:txBody>
      <dsp:txXfrm>
        <a:off x="98676" y="2543695"/>
        <a:ext cx="1824043" cy="21311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EC9BB-CA7A-4118-8CCE-D20AE0CA20FC}" type="datetimeFigureOut">
              <a:rPr lang="hr-HR" smtClean="0"/>
              <a:t>8.6.2026.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CA78E-AD96-4100-81D9-6D94F94F63B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859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CA78E-AD96-4100-81D9-6D94F94F63B9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22368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specifikacijom zahtjeva korisnika sve tražene funkcionalnosti su korištene u sustavu i detaljno prikazane na ovom  </a:t>
            </a:r>
          </a:p>
          <a:p>
            <a:r>
              <a:rPr lang="hr-HR" dirty="0"/>
              <a:t>Dijagramu dekompozicija funkcija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CA78E-AD96-4100-81D9-6D94F94F63B9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21085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sz="1200" dirty="0"/>
              <a:t>Prikazuje sustav kao jednu cjelinu</a:t>
            </a:r>
          </a:p>
          <a:p>
            <a:r>
              <a:rPr lang="hr-HR" sz="1200" dirty="0"/>
              <a:t>Prikazuje vanjske aktere: </a:t>
            </a:r>
            <a:r>
              <a:rPr lang="hr-HR" sz="1200" dirty="0" err="1"/>
              <a:t>admin</a:t>
            </a:r>
            <a:r>
              <a:rPr lang="hr-HR" sz="1200" dirty="0"/>
              <a:t>, korisnik</a:t>
            </a:r>
          </a:p>
          <a:p>
            <a:r>
              <a:rPr lang="hr-HR" sz="1200" dirty="0"/>
              <a:t>Prikazuje ulazne i izlazne tokove podataka</a:t>
            </a:r>
            <a:br>
              <a:rPr lang="hr-HR" sz="1200" dirty="0"/>
            </a:br>
            <a:r>
              <a:rPr lang="hr-HR" sz="1200" dirty="0"/>
              <a:t>Ali ne prikazuje unutarnju strukturu sustava</a:t>
            </a:r>
          </a:p>
          <a:p>
            <a:r>
              <a:rPr lang="hr-HR" sz="1200" dirty="0"/>
              <a:t>Služi za razumijevanje osnovne komunikacije sustava s okolinom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CA78E-AD96-4100-81D9-6D94F94F63B9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39971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▸ Uključuje spremišta podataka: korisnici, oglasi te prodaja i interakcija</a:t>
            </a:r>
          </a:p>
          <a:p>
            <a:r>
              <a:rPr lang="hr-HR" dirty="0"/>
              <a:t>▸ Oglasi se povezuju s pretragom, favoritima, kupnjom, porukama i recenzijama</a:t>
            </a:r>
          </a:p>
          <a:p>
            <a:r>
              <a:rPr lang="hr-HR" dirty="0"/>
              <a:t>▸ Administrator upravlja korisnicima, prijavljenim oglasima i neaktivnim oglasima</a:t>
            </a:r>
          </a:p>
          <a:p>
            <a:r>
              <a:rPr lang="hr-HR" dirty="0"/>
              <a:t>▸ Cilj dijagrama je prikazati kako podaci kruže između procesa, korisnika i spremišta podataka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CA78E-AD96-4100-81D9-6D94F94F63B9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79927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hr-HR" sz="1200" dirty="0">
                <a:solidFill>
                  <a:srgbClr val="EBEBEB"/>
                </a:solidFill>
              </a:rPr>
              <a:t>DTP prve razine detaljnije razrađuje glavne procese sustava</a:t>
            </a:r>
          </a:p>
          <a:p>
            <a:pPr>
              <a:lnSpc>
                <a:spcPct val="90000"/>
              </a:lnSpc>
            </a:pPr>
            <a:r>
              <a:rPr lang="hr-HR" sz="1200" dirty="0">
                <a:solidFill>
                  <a:srgbClr val="EBEBEB"/>
                </a:solidFill>
              </a:rPr>
              <a:t>Prikazuje manje funkcionalnosti unutar svakog većeg procesa</a:t>
            </a:r>
          </a:p>
          <a:p>
            <a:pPr>
              <a:lnSpc>
                <a:spcPct val="90000"/>
              </a:lnSpc>
            </a:pPr>
            <a:r>
              <a:rPr lang="hr-HR" sz="1200" dirty="0">
                <a:solidFill>
                  <a:srgbClr val="EBEBEB"/>
                </a:solidFill>
              </a:rPr>
              <a:t>Omogućuje bolji pregled toka podataka kroz sustav</a:t>
            </a:r>
          </a:p>
          <a:p>
            <a:pPr>
              <a:lnSpc>
                <a:spcPct val="90000"/>
              </a:lnSpc>
            </a:pPr>
            <a:r>
              <a:rPr lang="hr-HR" sz="1200" dirty="0">
                <a:solidFill>
                  <a:srgbClr val="EBEBEB"/>
                </a:solidFill>
              </a:rPr>
              <a:t>Povezuje korisnika, procese i spremišta podataka</a:t>
            </a:r>
          </a:p>
          <a:p>
            <a:pPr>
              <a:lnSpc>
                <a:spcPct val="90000"/>
              </a:lnSpc>
            </a:pPr>
            <a:r>
              <a:rPr lang="hr-HR" sz="1200" dirty="0">
                <a:solidFill>
                  <a:srgbClr val="EBEBEB"/>
                </a:solidFill>
              </a:rPr>
              <a:t>Koristi se za jasnije razumijevanje rada pojedinih dijelova sustava</a:t>
            </a:r>
          </a:p>
          <a:p>
            <a:pPr>
              <a:lnSpc>
                <a:spcPct val="90000"/>
              </a:lnSpc>
            </a:pPr>
            <a:r>
              <a:rPr lang="hr-HR" sz="1200" dirty="0">
                <a:solidFill>
                  <a:srgbClr val="EBEBEB"/>
                </a:solidFill>
              </a:rPr>
              <a:t>U našem sustavu prikazuje procese poput upravljanja korisnicima, oglasima, prodajom i administracijom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CA78E-AD96-4100-81D9-6D94F94F63B9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10908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CA78E-AD96-4100-81D9-6D94F94F63B9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83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ivan.h@email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40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5" name="Oval 144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51" name="Rectangle 150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 useBgFill="1">
        <p:nvSpPr>
          <p:cNvPr id="153" name="Rectangle 152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94C2D7-6928-1465-F13E-E6E50B8D4FC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3271" t="5384" r="44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C23775-EECD-52F3-F4D9-D15B285690D8}"/>
              </a:ext>
            </a:extLst>
          </p:cNvPr>
          <p:cNvSpPr txBox="1"/>
          <p:nvPr/>
        </p:nvSpPr>
        <p:spPr>
          <a:xfrm>
            <a:off x="421750" y="5348748"/>
            <a:ext cx="3039206" cy="14355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cap="all">
                <a:latin typeface="+mj-lt"/>
                <a:ea typeface="+mj-ea"/>
                <a:cs typeface="+mj-cs"/>
              </a:rPr>
              <a:t>ANDREJ GAŠPAROVIĆ, PATRIK DUKIĆ, TOMISLAV MIHELIĆ</a:t>
            </a:r>
            <a:endParaRPr lang="en-US" sz="2000" cap="all" dirty="0">
              <a:latin typeface="+mj-lt"/>
              <a:ea typeface="+mj-ea"/>
              <a:cs typeface="+mj-cs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76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EDCC1B-6F88-959F-5BCF-8AC90BD3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hr-HR">
                <a:solidFill>
                  <a:srgbClr val="EBEBEB"/>
                </a:solidFill>
              </a:rPr>
              <a:t>OPIS SUSTAVA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B75F5-A78F-DC22-1D15-F7BA58077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Marketplace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oglasnik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je web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aplikacija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za online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kupnju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prodaju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proizvoda</a:t>
            </a:r>
            <a:endParaRPr lang="hr-HR" dirty="0">
              <a:solidFill>
                <a:srgbClr val="FFFFFF"/>
              </a:solidFill>
              <a:latin typeface="Century Gothic" pitchFamily="34" charset="0"/>
              <a:ea typeface="Century Gothic" pitchFamily="34" charset="-122"/>
              <a:cs typeface="Century Gothic" pitchFamily="34" charset="-120"/>
            </a:endParaRPr>
          </a:p>
          <a:p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Omogućuje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pregled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dostupnih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oglasa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pretraživanje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filtriranje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sortiranje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rezultata</a:t>
            </a:r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Registrirani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korisnici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mogu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objavljivati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uređivati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brisati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vlastite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oglase</a:t>
            </a:r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Sustav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podržava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kupnju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proizvoda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povijest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kupnji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favorite, chat,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obavijesti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recenzije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  <a:p>
            <a:endParaRPr lang="hr-HR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/mnt/data/oglasnik_marketplace_za_kupnju_i_prodaju.png">
            <a:extLst>
              <a:ext uri="{FF2B5EF4-FFF2-40B4-BE49-F238E27FC236}">
                <a16:creationId xmlns:a16="http://schemas.microsoft.com/office/drawing/2014/main" id="{F149F350-E5A8-16E3-B8FE-E848076AB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955" r="18336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4233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803E2-AB22-57DA-14E2-AB54BE79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3600" dirty="0">
                <a:solidFill>
                  <a:srgbClr val="EBEB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SVRHA I CILJEVI</a:t>
            </a:r>
            <a:br>
              <a:rPr lang="en-US" sz="3600" dirty="0">
                <a:solidFill>
                  <a:srgbClr val="EBEBEB"/>
                </a:solidFill>
              </a:rPr>
            </a:br>
            <a:r>
              <a:rPr lang="en-US" sz="3600" dirty="0">
                <a:solidFill>
                  <a:srgbClr val="EBEBE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SUSTAVA</a:t>
            </a:r>
            <a:br>
              <a:rPr lang="en-US" sz="3600" dirty="0">
                <a:solidFill>
                  <a:srgbClr val="EBEBEB"/>
                </a:solidFill>
              </a:rPr>
            </a:br>
            <a:endParaRPr lang="hr-HR" sz="3600" dirty="0">
              <a:solidFill>
                <a:srgbClr val="EBEBE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0F20-8EAA-D261-EA7B-EB86F868D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5951567" cy="392035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Olakšati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online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kupnje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prodaje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kroz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centraliziranu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platformu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Omogućiti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jednostavnu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registraciju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prijavu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upravljanje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korisničkim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profilom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Omogućiti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objavu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oglasa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s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nazivom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opisom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cijenom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kategorijom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slikama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lokacijom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Podržati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pretragu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filtriranje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po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kategoriji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/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lokaciji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/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cijeni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pregled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detalja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oglasa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Osigurati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kupnju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promjenu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statusa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oglasa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u „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prodan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”, favorite,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poruke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recenzije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hr-HR" dirty="0">
              <a:solidFill>
                <a:srgbClr val="FFFFFF"/>
              </a:solidFill>
            </a:endParaRP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/mnt/data/image(14).png">
            <a:extLst>
              <a:ext uri="{FF2B5EF4-FFF2-40B4-BE49-F238E27FC236}">
                <a16:creationId xmlns:a16="http://schemas.microsoft.com/office/drawing/2014/main" id="{65F56415-7988-17CA-7ED7-C325379C5D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24" t="5019" r="53619"/>
          <a:stretch>
            <a:fillRect/>
          </a:stretch>
        </p:blipFill>
        <p:spPr>
          <a:xfrm>
            <a:off x="7229175" y="1"/>
            <a:ext cx="4963245" cy="6858002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108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C32C0-DBB8-7563-D2F0-6EA9D15A5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799"/>
            <a:ext cx="3108626" cy="144475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r-HR" sz="2700" dirty="0">
                <a:solidFill>
                  <a:srgbClr val="EBEBEB"/>
                </a:solidFill>
              </a:rPr>
              <a:t>DIJAGRAM DEKOMPOZICIJE FUNKCIJA</a:t>
            </a:r>
          </a:p>
        </p:txBody>
      </p:sp>
      <p:sp>
        <p:nvSpPr>
          <p:cNvPr id="35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29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r-H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AF2BE-28EF-C434-5D02-E2FAD9C17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3072385"/>
            <a:ext cx="3108057" cy="2947415"/>
          </a:xfrm>
        </p:spPr>
        <p:txBody>
          <a:bodyPr>
            <a:normAutofit/>
          </a:bodyPr>
          <a:lstStyle/>
          <a:p>
            <a:r>
              <a:rPr lang="hr-HR" sz="1400" dirty="0">
                <a:solidFill>
                  <a:srgbClr val="FFFFFF"/>
                </a:solidFill>
              </a:rPr>
              <a:t>Sustav je podijeljen na 4 glavna modula:</a:t>
            </a:r>
          </a:p>
          <a:p>
            <a:pPr lvl="1"/>
            <a:r>
              <a:rPr lang="hr-HR" sz="1400" dirty="0">
                <a:solidFill>
                  <a:srgbClr val="FFFFFF"/>
                </a:solidFill>
              </a:rPr>
              <a:t>Upravljanje korisnicima</a:t>
            </a:r>
          </a:p>
          <a:p>
            <a:pPr lvl="1"/>
            <a:r>
              <a:rPr lang="hr-HR" sz="1400" dirty="0">
                <a:solidFill>
                  <a:srgbClr val="FFFFFF"/>
                </a:solidFill>
              </a:rPr>
              <a:t>Upravljanje oglasima</a:t>
            </a:r>
          </a:p>
          <a:p>
            <a:pPr lvl="1"/>
            <a:r>
              <a:rPr lang="hr-HR" sz="1400" dirty="0">
                <a:solidFill>
                  <a:srgbClr val="FFFFFF"/>
                </a:solidFill>
              </a:rPr>
              <a:t>Upravljanje prodajom i interakcijom</a:t>
            </a:r>
          </a:p>
          <a:p>
            <a:pPr lvl="1"/>
            <a:r>
              <a:rPr lang="hr-HR" sz="1400" dirty="0">
                <a:solidFill>
                  <a:srgbClr val="FFFFFF"/>
                </a:solidFill>
              </a:rPr>
              <a:t>Administracija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5D6567-2812-BCED-9E84-D466160BF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628" y="1708220"/>
            <a:ext cx="7252289" cy="417006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84823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99490-F292-9EA1-D751-5BE432E1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Dijagram</a:t>
            </a:r>
            <a:r>
              <a:rPr lang="en-US" sz="5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konteksta</a:t>
            </a:r>
            <a:endParaRPr lang="en-US" sz="50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7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9" name="Freeform: Shape 10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87985C-783E-36DD-CD53-7A752B5968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705" b="1934"/>
          <a:stretch>
            <a:fillRect/>
          </a:stretch>
        </p:blipFill>
        <p:spPr>
          <a:xfrm>
            <a:off x="-196477" y="1325880"/>
            <a:ext cx="7714129" cy="43391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64611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3ACBC-2D67-33C7-CCAE-1D4D2154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r-HR">
                <a:solidFill>
                  <a:srgbClr val="EBEBEB"/>
                </a:solidFill>
              </a:rPr>
              <a:t>Dtp nulte razine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r-H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09E94F-2460-76E1-1045-916FECE1F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372" y="1234085"/>
            <a:ext cx="6906208" cy="4989734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BA757-0E76-3C1C-2C5B-C3576626B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rgbClr val="EBEBEB"/>
                </a:solidFill>
              </a:rPr>
              <a:t>Prikazuje unutarnju strukturu web </a:t>
            </a:r>
            <a:r>
              <a:rPr lang="hr-HR" dirty="0" err="1">
                <a:solidFill>
                  <a:srgbClr val="EBEBEB"/>
                </a:solidFill>
              </a:rPr>
              <a:t>marketplace</a:t>
            </a:r>
            <a:r>
              <a:rPr lang="hr-HR" dirty="0">
                <a:solidFill>
                  <a:srgbClr val="EBEBEB"/>
                </a:solidFill>
              </a:rPr>
              <a:t> sustava</a:t>
            </a:r>
          </a:p>
          <a:p>
            <a:r>
              <a:rPr lang="hr-HR" dirty="0">
                <a:solidFill>
                  <a:srgbClr val="EBEBEB"/>
                </a:solidFill>
              </a:rPr>
              <a:t>Sustav je podijeljen na četiri glavna procesa: </a:t>
            </a:r>
          </a:p>
          <a:p>
            <a:r>
              <a:rPr lang="hr-HR" dirty="0">
                <a:solidFill>
                  <a:srgbClr val="EBEBEB"/>
                </a:solidFill>
              </a:rPr>
              <a:t>Prikazuje kako korisnik komunicira s pojedinim dijelovima sustava</a:t>
            </a:r>
          </a:p>
        </p:txBody>
      </p:sp>
    </p:spTree>
    <p:extLst>
      <p:ext uri="{BB962C8B-B14F-4D97-AF65-F5344CB8AC3E}">
        <p14:creationId xmlns:p14="http://schemas.microsoft.com/office/powerpoint/2010/main" val="1383379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57B07-91FF-7149-7B2D-033AD62C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173" y="911773"/>
            <a:ext cx="10388161" cy="5701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DTP </a:t>
            </a:r>
            <a:r>
              <a:rPr lang="en-US" sz="5400" dirty="0" err="1"/>
              <a:t>dijagram</a:t>
            </a:r>
            <a:r>
              <a:rPr lang="en-US" sz="5400" dirty="0"/>
              <a:t> </a:t>
            </a:r>
            <a:r>
              <a:rPr lang="en-US" sz="5400" dirty="0" err="1"/>
              <a:t>prve</a:t>
            </a:r>
            <a:r>
              <a:rPr lang="en-US" sz="5400" dirty="0"/>
              <a:t> </a:t>
            </a:r>
            <a:r>
              <a:rPr lang="en-US" sz="5400" dirty="0" err="1"/>
              <a:t>razine</a:t>
            </a:r>
            <a:endParaRPr lang="en-US" sz="5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31690E-5551-7722-79D3-2788940D4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88" y="2049517"/>
            <a:ext cx="4078546" cy="3991303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ADB66-7FCD-6A37-B5C5-D1211B2A9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014" y="1881352"/>
            <a:ext cx="6301445" cy="463156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5089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8247-579B-FEE7-4E85-6439A312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Use </a:t>
            </a:r>
            <a:r>
              <a:rPr lang="hr-HR" dirty="0" err="1"/>
              <a:t>case</a:t>
            </a:r>
            <a:r>
              <a:rPr lang="hr-HR" dirty="0"/>
              <a:t> dijagram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8F544-74BA-7842-8633-6FDCC060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Prikazuje glavne aktere sustava i njihove interakcije s funkcionalnostima </a:t>
            </a:r>
            <a:r>
              <a:rPr lang="hr-HR" dirty="0" err="1"/>
              <a:t>marketplace</a:t>
            </a:r>
            <a:r>
              <a:rPr lang="hr-HR" dirty="0"/>
              <a:t> aplikacije</a:t>
            </a:r>
          </a:p>
          <a:p>
            <a:endParaRPr lang="hr-HR" dirty="0"/>
          </a:p>
          <a:p>
            <a:r>
              <a:rPr lang="hr-HR" dirty="0"/>
              <a:t>Akteri sustava:</a:t>
            </a:r>
          </a:p>
          <a:p>
            <a:pPr lvl="1"/>
            <a:r>
              <a:rPr lang="hr-HR" dirty="0"/>
              <a:t>Gost (neregistrirani korisnik) </a:t>
            </a:r>
          </a:p>
          <a:p>
            <a:pPr lvl="1"/>
            <a:r>
              <a:rPr lang="hr-HR" dirty="0"/>
              <a:t>Registrirani korisnik </a:t>
            </a:r>
          </a:p>
          <a:p>
            <a:pPr lvl="1"/>
            <a:r>
              <a:rPr lang="hr-HR" dirty="0"/>
              <a:t>Administrator 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8762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DBF31-9666-C21A-454F-3642A4DC1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hr-HR" dirty="0">
                <a:solidFill>
                  <a:srgbClr val="F2F2F2"/>
                </a:solidFill>
              </a:rPr>
              <a:t>Glavni slučajevi upotrebe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69559E-F2D0-6FA9-0C2F-5C8D3CF940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269983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612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34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r-H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83DBB-485A-1A33-850C-C702DDEB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hr-HR"/>
              <a:t>Glavni slučajevi upotrebe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3513A-0E0D-492A-7828-3F51686EB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hr-HR" b="1"/>
              <a:t>Registrirani korisnik:</a:t>
            </a:r>
            <a:endParaRPr lang="hr-HR"/>
          </a:p>
          <a:p>
            <a:pPr lvl="1"/>
            <a:r>
              <a:rPr lang="hr-HR"/>
              <a:t>Prijava u sustav </a:t>
            </a:r>
          </a:p>
          <a:p>
            <a:pPr lvl="1"/>
            <a:r>
              <a:rPr lang="hr-HR"/>
              <a:t>Objavljivanje oglasa </a:t>
            </a:r>
          </a:p>
          <a:p>
            <a:pPr lvl="1"/>
            <a:r>
              <a:rPr lang="hr-HR"/>
              <a:t>Uređivanje i brisanje oglasa </a:t>
            </a:r>
          </a:p>
          <a:p>
            <a:pPr lvl="1"/>
            <a:r>
              <a:rPr lang="hr-HR"/>
              <a:t>Kupnja proizvoda </a:t>
            </a:r>
          </a:p>
          <a:p>
            <a:pPr lvl="1"/>
            <a:r>
              <a:rPr lang="hr-HR"/>
              <a:t>Pregled povijesti kupnji </a:t>
            </a:r>
          </a:p>
          <a:p>
            <a:pPr lvl="1"/>
            <a:r>
              <a:rPr lang="hr-HR"/>
              <a:t>Upravljanje profilom </a:t>
            </a:r>
          </a:p>
          <a:p>
            <a:pPr lvl="1"/>
            <a:r>
              <a:rPr lang="hr-HR"/>
              <a:t>Dodavanje u favorite </a:t>
            </a:r>
          </a:p>
          <a:p>
            <a:pPr lvl="1"/>
            <a:r>
              <a:rPr lang="hr-HR"/>
              <a:t>Chat s drugim korisnicima </a:t>
            </a:r>
          </a:p>
          <a:p>
            <a:pPr lvl="1"/>
            <a:r>
              <a:rPr lang="hr-HR"/>
              <a:t>Ostavljanje recenzije </a:t>
            </a:r>
          </a:p>
          <a:p>
            <a:pPr lvl="1"/>
            <a:r>
              <a:rPr lang="hr-HR"/>
              <a:t>Prijava oglasa </a:t>
            </a:r>
          </a:p>
          <a:p>
            <a:pPr lvl="1"/>
            <a:r>
              <a:rPr lang="hr-HR"/>
              <a:t>Primanje obavijesti </a:t>
            </a:r>
          </a:p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8633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7E9D42-2EC3-3959-0361-5343FB11A3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5" y="1151920"/>
            <a:ext cx="7415189" cy="49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900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9EC6FFF-3949-4638-A265-B1515909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611342-76A9-5FF4-111A-8D0F926C8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8694" y="1063416"/>
            <a:ext cx="6034406" cy="4811730"/>
          </a:xfrm>
        </p:spPr>
        <p:txBody>
          <a:bodyPr anchor="ctr">
            <a:normAutofit/>
          </a:bodyPr>
          <a:lstStyle/>
          <a:p>
            <a:pPr algn="r"/>
            <a:r>
              <a:rPr lang="hr-HR" sz="6600"/>
              <a:t>Modeliranje podataka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05BC5F-3118-49D0-B18C-5D9CC922C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733" y="0"/>
            <a:ext cx="321564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5007D-C0C7-C4EE-5A29-44E38055F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5882" y="1063416"/>
            <a:ext cx="2591618" cy="4811730"/>
          </a:xfrm>
        </p:spPr>
        <p:txBody>
          <a:bodyPr anchor="ctr">
            <a:normAutofit/>
          </a:bodyPr>
          <a:lstStyle/>
          <a:p>
            <a:endParaRPr lang="hr-H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4B1E59-3C8A-453C-B841-6AB3B0CF7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344" y="0"/>
            <a:ext cx="1438656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035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13B1E-E52A-518E-1654-66CCD6FC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hr-HR">
                <a:solidFill>
                  <a:srgbClr val="EBEBEB"/>
                </a:solidFill>
              </a:rPr>
              <a:t>EV model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r-H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8EDA6-A9E2-D4F7-47C2-FFF1BAC60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492" y="1237634"/>
            <a:ext cx="6269110" cy="5203360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0521-4886-620E-DC77-959C70812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4166509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r-HR" sz="1700" dirty="0">
                <a:solidFill>
                  <a:srgbClr val="EBEBEB"/>
                </a:solidFill>
              </a:rPr>
              <a:t>Centralni entiteti aplikacije su Korisnik i Oglas oko kojih se odvija sva poslovna logika</a:t>
            </a:r>
          </a:p>
          <a:p>
            <a:pPr>
              <a:lnSpc>
                <a:spcPct val="90000"/>
              </a:lnSpc>
            </a:pPr>
            <a:r>
              <a:rPr lang="hr-HR" sz="1700" dirty="0">
                <a:solidFill>
                  <a:srgbClr val="EBEBEB"/>
                </a:solidFill>
              </a:rPr>
              <a:t>Svi ostali entiteti u sustavu su slabi entiteti jer ne mogu postojati bez svojih "roditelja" i vizualno su označeni dvostrukim okvirima</a:t>
            </a:r>
          </a:p>
          <a:p>
            <a:pPr>
              <a:lnSpc>
                <a:spcPct val="90000"/>
              </a:lnSpc>
            </a:pPr>
            <a:r>
              <a:rPr lang="hr-HR" sz="1700" dirty="0">
                <a:solidFill>
                  <a:srgbClr val="EBEBEB"/>
                </a:solidFill>
              </a:rPr>
              <a:t>Sustav koristi prirodne ključeve</a:t>
            </a:r>
          </a:p>
        </p:txBody>
      </p:sp>
    </p:spTree>
    <p:extLst>
      <p:ext uri="{BB962C8B-B14F-4D97-AF65-F5344CB8AC3E}">
        <p14:creationId xmlns:p14="http://schemas.microsoft.com/office/powerpoint/2010/main" val="3833888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CE84C-B259-F0F9-3F23-28D13C5F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Opis EV modela</a:t>
            </a:r>
          </a:p>
        </p:txBody>
      </p:sp>
      <p:sp>
        <p:nvSpPr>
          <p:cNvPr id="3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0268A9-CAEA-350C-47A9-42E38DA71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362492"/>
              </p:ext>
            </p:extLst>
          </p:nvPr>
        </p:nvGraphicFramePr>
        <p:xfrm>
          <a:off x="643854" y="982022"/>
          <a:ext cx="6270663" cy="54173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4043">
                  <a:extLst>
                    <a:ext uri="{9D8B030D-6E8A-4147-A177-3AD203B41FA5}">
                      <a16:colId xmlns:a16="http://schemas.microsoft.com/office/drawing/2014/main" val="3784631272"/>
                    </a:ext>
                  </a:extLst>
                </a:gridCol>
                <a:gridCol w="2729895">
                  <a:extLst>
                    <a:ext uri="{9D8B030D-6E8A-4147-A177-3AD203B41FA5}">
                      <a16:colId xmlns:a16="http://schemas.microsoft.com/office/drawing/2014/main" val="1967941227"/>
                    </a:ext>
                  </a:extLst>
                </a:gridCol>
                <a:gridCol w="1477556">
                  <a:extLst>
                    <a:ext uri="{9D8B030D-6E8A-4147-A177-3AD203B41FA5}">
                      <a16:colId xmlns:a16="http://schemas.microsoft.com/office/drawing/2014/main" val="2809481277"/>
                    </a:ext>
                  </a:extLst>
                </a:gridCol>
                <a:gridCol w="1249169">
                  <a:extLst>
                    <a:ext uri="{9D8B030D-6E8A-4147-A177-3AD203B41FA5}">
                      <a16:colId xmlns:a16="http://schemas.microsoft.com/office/drawing/2014/main" val="873226049"/>
                    </a:ext>
                  </a:extLst>
                </a:gridCol>
              </a:tblGrid>
              <a:tr h="2472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NAZIV TIPA ENTITETA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OPIS TIPA ENTITETA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ATRIBUTI + PRIMJERI VRIJEDNOSTI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IDENTIFIKATOR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2292496427"/>
                  </a:ext>
                </a:extLst>
              </a:tr>
              <a:tr h="69196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KORISNIK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opisuje registrirane korisnike sustava.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 – </a:t>
                      </a:r>
                      <a:r>
                        <a:rPr lang="hr-HR" sz="700" u="sng" kern="100">
                          <a:effectLst/>
                          <a:hlinkClick r:id="rId6"/>
                        </a:rPr>
                        <a:t>ivan.h@email.com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Ime – Ivan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Prezime – Horvat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Lozinka – ********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Lokacija – Rijeka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Uloga – Korisnik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174864790"/>
                  </a:ext>
                </a:extLst>
              </a:tr>
              <a:tr h="91433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OGLAS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opisuje proizvod koji se nudi na prodaju.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 – 101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 – </a:t>
                      </a:r>
                      <a:r>
                        <a:rPr lang="hr-HR" sz="700" u="sng" kern="100">
                          <a:effectLst/>
                          <a:hlinkClick r:id="rId6"/>
                        </a:rPr>
                        <a:t>ivan.h@email.com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Naziv – Bicikl Nakamura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Opis – Malo rabljen, crni...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Cijena – 150.00 EUR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Kategorija – Sport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Status – Aktivan / Prodan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Lokacija_oglasa – Rijeka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9286965"/>
                  </a:ext>
                </a:extLst>
              </a:tr>
              <a:tr h="69196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PORUKA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bilježi komunikaciju između kupca i prodavača vezano za dogovor.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Datum_vrijeme – 15.05.2024. 14:30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Email_pošiljatelja – ana.m@email.com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 – 101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Email_primatelja – ivan.h@email.com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Tekst – "Može li za 130 eura?"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Datum_vrijeme, Email_pošiljatelja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1911791845"/>
                  </a:ext>
                </a:extLst>
              </a:tr>
              <a:tr h="5807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PRODAJA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bilježi realiziranu prodaju, služi za povijest i recenzije.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 – 101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Email_kupca – ana.m@email.com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Email_prodavača – ivan.h@email.com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Datum_prodaje – 16.05.2024.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807225003"/>
                  </a:ext>
                </a:extLst>
              </a:tr>
              <a:tr h="35841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RECENZIJA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opisuje ocjenu koju je kupac dao prodavaču nakon prodaje.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 – 101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Ocjena – 5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Komentar – "Brz dogovor, sve super!"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204026891"/>
                  </a:ext>
                </a:extLst>
              </a:tr>
              <a:tr h="35841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FAVORITI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bilježi koje je oglase korisnik spremio za kasnije.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 – ana.m@email.com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 – 101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Datum_spremanja – 14.05.2024.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Email, Broj_oglasa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1861794325"/>
                  </a:ext>
                </a:extLst>
              </a:tr>
              <a:tr h="5807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PRIJAVA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bilježi prijave spornih oglasa.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 – 101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Email_prijavitelja – marko.p@email.com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Razlog – "Neispravna cijena"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Status – Na čekanju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Broj_oglasa, Email_prijavitelja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240355587"/>
                  </a:ext>
                </a:extLst>
              </a:tr>
              <a:tr h="46959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OBAVIJEST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Tip entiteta koji služi za slanje obavijesti korisnicima.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Datum_vrijeme – 16.05.2024. 09:00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Email – ivan.h@email.com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Sadržaj – "Imate novu poruku"</a:t>
                      </a:r>
                      <a:endParaRPr lang="hr-HR" sz="800" kern="1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>
                          <a:effectLst/>
                        </a:rPr>
                        <a:t>Pročitano – Ne</a:t>
                      </a:r>
                      <a:endParaRPr lang="hr-HR" sz="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r>
                        <a:rPr lang="hr-HR" sz="700" kern="100" dirty="0">
                          <a:effectLst/>
                        </a:rPr>
                        <a:t>Email, </a:t>
                      </a:r>
                      <a:r>
                        <a:rPr lang="hr-HR" sz="700" kern="100" dirty="0" err="1">
                          <a:effectLst/>
                        </a:rPr>
                        <a:t>Datum_vrijeme</a:t>
                      </a:r>
                      <a:endParaRPr lang="hr-HR" sz="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083" marR="15083" marT="3771" marB="3771" anchor="ctr"/>
                </a:tc>
                <a:extLst>
                  <a:ext uri="{0D108BD9-81ED-4DB2-BD59-A6C34878D82A}">
                    <a16:rowId xmlns:a16="http://schemas.microsoft.com/office/drawing/2014/main" val="4153083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417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79568-78D7-20D7-91B8-11714660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Relacijski model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5CB4BE-3A80-2FED-B346-2AD50D62E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447422" y="1141407"/>
            <a:ext cx="6900371" cy="477850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5713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3240-B3E1-FF07-9FA2-0933F009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Baza podataka</a:t>
            </a:r>
            <a:endParaRPr lang="hr-HR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6C1F2C5B-4094-DBA6-40E3-661424E7F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5144" y="1331119"/>
            <a:ext cx="3707207" cy="39141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3B649D-BF1F-1B7E-1B37-2A90EBA3F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070" y="1331119"/>
            <a:ext cx="3932190" cy="39367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6AFDA2-11F2-CB24-11FF-00EA607A6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730" y="2414895"/>
            <a:ext cx="3831658" cy="28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3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3B2415-F1B5-99CB-1337-9ADA091207D2}"/>
              </a:ext>
            </a:extLst>
          </p:cNvPr>
          <p:cNvSpPr/>
          <p:nvPr/>
        </p:nvSpPr>
        <p:spPr>
          <a:xfrm>
            <a:off x="648931" y="629266"/>
            <a:ext cx="4166510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0" i="0" kern="12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Spajanje</a:t>
            </a:r>
            <a:r>
              <a:rPr lang="en-US" sz="3600" b="0" i="0" kern="12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 s </a:t>
            </a:r>
            <a:r>
              <a:rPr lang="en-US" sz="3600" b="0" i="0" kern="12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bazom</a:t>
            </a:r>
            <a:r>
              <a:rPr lang="en-US" sz="3600" b="0" i="0" kern="12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podataka</a:t>
            </a:r>
            <a:endParaRPr lang="en-US" sz="3600" b="0" i="0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EBEBEB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r-H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9BD7E-D434-5B1A-EA82-B0F01358DCBA}"/>
              </a:ext>
            </a:extLst>
          </p:cNvPr>
          <p:cNvSpPr txBox="1"/>
          <p:nvPr/>
        </p:nvSpPr>
        <p:spPr>
          <a:xfrm>
            <a:off x="648931" y="2438400"/>
            <a:ext cx="4441427" cy="3940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Backend se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spaja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MariaDB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bazu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podataka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Podaci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za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spajanje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čitaju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iz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.env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datoteke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Funkcija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query()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koristi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se za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sve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SQL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upite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u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aplikaciji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namedPlaceholders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omogućuje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sigurnije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slanje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parametara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u SQL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upite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D6946-F967-5F95-6581-FB4DE4F82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186" y="1407768"/>
            <a:ext cx="5672952" cy="525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108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FE176-4DF3-CCDF-49DC-B3DC9D64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5BDED8-0261-0BC2-B02D-CA7CA3645544}"/>
              </a:ext>
            </a:extLst>
          </p:cNvPr>
          <p:cNvSpPr/>
          <p:nvPr/>
        </p:nvSpPr>
        <p:spPr>
          <a:xfrm>
            <a:off x="648931" y="629266"/>
            <a:ext cx="4166510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0" i="0" kern="12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Registracija</a:t>
            </a:r>
            <a:r>
              <a:rPr lang="en-US" sz="3600" b="0" i="0" kern="1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3600" b="0" i="0" kern="1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prijava</a:t>
            </a:r>
            <a:r>
              <a:rPr lang="en-US" sz="3600" b="0" i="0" kern="12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korisnika</a:t>
            </a:r>
            <a:endParaRPr lang="en-US" sz="3600" b="0" i="0" kern="1200" dirty="0">
              <a:ln w="22225">
                <a:solidFill>
                  <a:schemeClr val="accent2"/>
                </a:solidFill>
                <a:prstDash val="solid"/>
              </a:ln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r-H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E24B1C-2300-0F71-6D08-F642F33B69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4954" y="1686107"/>
            <a:ext cx="6435584" cy="4047067"/>
          </a:xfrm>
          <a:prstGeom prst="rect">
            <a:avLst/>
          </a:prstGeom>
          <a:effectLst/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DA424-9413-AB66-7745-7D9C70C97C64}"/>
              </a:ext>
            </a:extLst>
          </p:cNvPr>
          <p:cNvSpPr txBox="1"/>
          <p:nvPr/>
        </p:nvSpPr>
        <p:spPr>
          <a:xfrm>
            <a:off x="603643" y="2182363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registrira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unosom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emaila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imena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prezimena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lozinke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Prije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registracije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provjerava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postoji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li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već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u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bazi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Lozinka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se ne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sprema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običnim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tekstom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nego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hashira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Nakon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registracije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dobiva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JWT token</a:t>
            </a:r>
          </a:p>
        </p:txBody>
      </p:sp>
    </p:spTree>
    <p:extLst>
      <p:ext uri="{BB962C8B-B14F-4D97-AF65-F5344CB8AC3E}">
        <p14:creationId xmlns:p14="http://schemas.microsoft.com/office/powerpoint/2010/main" val="3324741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B14078-7D08-133A-351D-01AD2BB0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F864D-09F4-6BCF-B602-D69E3EAA8AC5}"/>
              </a:ext>
            </a:extLst>
          </p:cNvPr>
          <p:cNvSpPr/>
          <p:nvPr/>
        </p:nvSpPr>
        <p:spPr>
          <a:xfrm>
            <a:off x="629104" y="278399"/>
            <a:ext cx="4166510" cy="1622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0" i="0" kern="12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Spremanje</a:t>
            </a:r>
            <a:r>
              <a:rPr lang="en-US" sz="3600" b="0" i="0" kern="12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prijave</a:t>
            </a:r>
            <a:r>
              <a:rPr lang="en-US" sz="3600" b="0" i="0" kern="12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na</a:t>
            </a:r>
            <a:r>
              <a:rPr lang="en-US" sz="3600" b="0" i="0" kern="12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3600" b="0" i="0" kern="1200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effectLst/>
                <a:latin typeface="+mj-lt"/>
                <a:ea typeface="+mj-ea"/>
                <a:cs typeface="+mj-cs"/>
              </a:rPr>
              <a:t>frontendu</a:t>
            </a:r>
            <a:endParaRPr lang="en-US" sz="3600" b="0" i="0" kern="1200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EBEBEB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26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r-H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43DCD0-654D-15C4-F8FC-09A11C7CA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0418" y="498180"/>
            <a:ext cx="4633977" cy="6241047"/>
          </a:xfrm>
          <a:prstGeom prst="rect">
            <a:avLst/>
          </a:prstGeom>
          <a:effectLst/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8CB3B-2462-769B-4B43-CCF1F296FBB4}"/>
              </a:ext>
            </a:extLst>
          </p:cNvPr>
          <p:cNvSpPr txBox="1"/>
          <p:nvPr/>
        </p:nvSpPr>
        <p:spPr>
          <a:xfrm>
            <a:off x="629105" y="2182363"/>
            <a:ext cx="4166509" cy="4471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store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čuva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podatke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o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prijavljenom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korisniku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Token se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sprema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u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localStorage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isAuth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provjerava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je li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prijavljen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isAdmin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provjerava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ima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li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admin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ulogu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Kod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odjave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brišu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token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korisnik</a:t>
            </a:r>
            <a:endParaRPr lang="en-US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1957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537C-F75E-78D8-D83F-4928C4C01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E1E56F-C9A3-309C-0226-1119E2E4D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016" y="165370"/>
            <a:ext cx="5761533" cy="6527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C43246-3917-97FC-9121-70B632112E8F}"/>
              </a:ext>
            </a:extLst>
          </p:cNvPr>
          <p:cNvSpPr txBox="1"/>
          <p:nvPr/>
        </p:nvSpPr>
        <p:spPr>
          <a:xfrm>
            <a:off x="512744" y="2068749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r-HR" dirty="0">
                <a:latin typeface="Century Gothic (headings)"/>
              </a:rPr>
              <a:t>requireAuth provjerava je li korisnik prijavljen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hr-HR" dirty="0">
              <a:latin typeface="Century Gothic (headings)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r-HR" dirty="0">
                <a:latin typeface="Century Gothic (headings)"/>
              </a:rPr>
              <a:t>Token se čita iz Authorization headera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hr-HR" dirty="0">
              <a:latin typeface="Century Gothic (headings)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r-HR" dirty="0">
                <a:latin typeface="Century Gothic (headings)"/>
              </a:rPr>
              <a:t>Ako je token ispravan, podaci korisnika spremaju se u req.user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hr-HR" dirty="0">
              <a:latin typeface="Century Gothic (headings)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hr-HR" dirty="0">
                <a:latin typeface="Century Gothic (headings)"/>
              </a:rPr>
              <a:t>requireAdmin dopušta pristup samo korisnicima s ulogom admin</a:t>
            </a:r>
            <a:endParaRPr lang="en-US" dirty="0">
              <a:solidFill>
                <a:srgbClr val="EBEBEB"/>
              </a:solidFill>
              <a:latin typeface="Century Gothic (headings)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5CB28-BC59-BF6E-858D-1E922FBE4A15}"/>
              </a:ext>
            </a:extLst>
          </p:cNvPr>
          <p:cNvSpPr/>
          <p:nvPr/>
        </p:nvSpPr>
        <p:spPr>
          <a:xfrm>
            <a:off x="0" y="311683"/>
            <a:ext cx="481905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r-HR" sz="3600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entury Gothic (headings)"/>
              </a:rPr>
              <a:t>Zaštita API ruta i admin pristup</a:t>
            </a:r>
          </a:p>
        </p:txBody>
      </p:sp>
    </p:spTree>
    <p:extLst>
      <p:ext uri="{BB962C8B-B14F-4D97-AF65-F5344CB8AC3E}">
        <p14:creationId xmlns:p14="http://schemas.microsoft.com/office/powerpoint/2010/main" val="331109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67774-E638-0177-EB77-3353360A8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6AA8DF-7FF7-4CDF-03CB-2FAB08C8A7B9}"/>
              </a:ext>
            </a:extLst>
          </p:cNvPr>
          <p:cNvSpPr/>
          <p:nvPr/>
        </p:nvSpPr>
        <p:spPr>
          <a:xfrm>
            <a:off x="197289" y="95374"/>
            <a:ext cx="4783823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Dohvat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pretraga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filtriranje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oglasa</a:t>
            </a:r>
            <a:endParaRPr lang="en-US" sz="36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C4B95-7006-5EA8-5ADA-6EA4DA82A8C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1712"/>
          <a:stretch>
            <a:fillRect/>
          </a:stretch>
        </p:blipFill>
        <p:spPr>
          <a:xfrm>
            <a:off x="4619544" y="609601"/>
            <a:ext cx="6924756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07D1E4-883D-2C1B-56A2-8D486C187750}"/>
              </a:ext>
            </a:extLst>
          </p:cNvPr>
          <p:cNvSpPr txBox="1"/>
          <p:nvPr/>
        </p:nvSpPr>
        <p:spPr>
          <a:xfrm>
            <a:off x="533042" y="1676399"/>
            <a:ext cx="3970614" cy="50509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Ruta </a:t>
            </a:r>
            <a:r>
              <a:rPr lang="en-US" dirty="0" err="1">
                <a:latin typeface="+mj-lt"/>
                <a:ea typeface="+mj-ea"/>
                <a:cs typeface="+mj-cs"/>
              </a:rPr>
              <a:t>dohvaća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sve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aktivne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prodane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oglase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može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pretraživati</a:t>
            </a:r>
            <a:r>
              <a:rPr lang="en-US" dirty="0">
                <a:latin typeface="+mj-lt"/>
                <a:ea typeface="+mj-ea"/>
                <a:cs typeface="+mj-cs"/>
              </a:rPr>
              <a:t> po </a:t>
            </a:r>
            <a:r>
              <a:rPr lang="en-US" dirty="0" err="1">
                <a:latin typeface="+mj-lt"/>
                <a:ea typeface="+mj-ea"/>
                <a:cs typeface="+mj-cs"/>
              </a:rPr>
              <a:t>nazivu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opisu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Oglasi</a:t>
            </a:r>
            <a:r>
              <a:rPr lang="en-US" dirty="0"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latin typeface="+mj-lt"/>
                <a:ea typeface="+mj-ea"/>
                <a:cs typeface="+mj-cs"/>
              </a:rPr>
              <a:t>mogu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filtrirati</a:t>
            </a:r>
            <a:r>
              <a:rPr lang="en-US" dirty="0">
                <a:latin typeface="+mj-lt"/>
                <a:ea typeface="+mj-ea"/>
                <a:cs typeface="+mj-cs"/>
              </a:rPr>
              <a:t> po </a:t>
            </a:r>
            <a:r>
              <a:rPr lang="en-US" dirty="0" err="1">
                <a:latin typeface="+mj-lt"/>
                <a:ea typeface="+mj-ea"/>
                <a:cs typeface="+mj-cs"/>
              </a:rPr>
              <a:t>kategoriji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lokaciji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cijeni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Rezultati</a:t>
            </a:r>
            <a:r>
              <a:rPr lang="en-US" dirty="0"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latin typeface="+mj-lt"/>
                <a:ea typeface="+mj-ea"/>
                <a:cs typeface="+mj-cs"/>
              </a:rPr>
              <a:t>mogu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sortirati</a:t>
            </a:r>
            <a:r>
              <a:rPr lang="en-US" dirty="0">
                <a:latin typeface="+mj-lt"/>
                <a:ea typeface="+mj-ea"/>
                <a:cs typeface="+mj-cs"/>
              </a:rPr>
              <a:t> po </a:t>
            </a:r>
            <a:r>
              <a:rPr lang="en-US" dirty="0" err="1">
                <a:latin typeface="+mj-lt"/>
                <a:ea typeface="+mj-ea"/>
                <a:cs typeface="+mj-cs"/>
              </a:rPr>
              <a:t>cijeni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ili</a:t>
            </a:r>
            <a:r>
              <a:rPr lang="en-US" dirty="0">
                <a:latin typeface="+mj-lt"/>
                <a:ea typeface="+mj-ea"/>
                <a:cs typeface="+mj-cs"/>
              </a:rPr>
              <a:t> po </a:t>
            </a:r>
            <a:r>
              <a:rPr lang="en-US" dirty="0" err="1">
                <a:latin typeface="+mj-lt"/>
                <a:ea typeface="+mj-ea"/>
                <a:cs typeface="+mj-cs"/>
              </a:rPr>
              <a:t>najnovijim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oglasima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Koristi</a:t>
            </a:r>
            <a:r>
              <a:rPr lang="en-US" dirty="0">
                <a:latin typeface="+mj-lt"/>
                <a:ea typeface="+mj-ea"/>
                <a:cs typeface="+mj-cs"/>
              </a:rPr>
              <a:t> se JOIN s </a:t>
            </a:r>
            <a:r>
              <a:rPr lang="en-US" dirty="0" err="1">
                <a:latin typeface="+mj-lt"/>
                <a:ea typeface="+mj-ea"/>
                <a:cs typeface="+mj-cs"/>
              </a:rPr>
              <a:t>tablicom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korisnika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kako</a:t>
            </a:r>
            <a:r>
              <a:rPr lang="en-US" dirty="0">
                <a:latin typeface="+mj-lt"/>
                <a:ea typeface="+mj-ea"/>
                <a:cs typeface="+mj-cs"/>
              </a:rPr>
              <a:t> bi se </a:t>
            </a:r>
            <a:r>
              <a:rPr lang="en-US" dirty="0" err="1">
                <a:latin typeface="+mj-lt"/>
                <a:ea typeface="+mj-ea"/>
                <a:cs typeface="+mj-cs"/>
              </a:rPr>
              <a:t>prikazao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prodavač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35958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088FA-1C96-B470-3736-D621D2C7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68278-4482-7E64-326B-C81245181DB6}"/>
              </a:ext>
            </a:extLst>
          </p:cNvPr>
          <p:cNvSpPr txBox="1"/>
          <p:nvPr/>
        </p:nvSpPr>
        <p:spPr>
          <a:xfrm>
            <a:off x="350080" y="248491"/>
            <a:ext cx="4478241" cy="16419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Admin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pregled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prijava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oglasa</a:t>
            </a:r>
            <a:endParaRPr lang="en-US" sz="36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D326E7-A60B-68C8-FF6F-8357223CC98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0614" b="-2"/>
          <a:stretch>
            <a:fillRect/>
          </a:stretch>
        </p:blipFill>
        <p:spPr>
          <a:xfrm>
            <a:off x="4619544" y="609601"/>
            <a:ext cx="6924756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E2AD3-ADDE-49E1-7CED-556EA8863E80}"/>
              </a:ext>
            </a:extLst>
          </p:cNvPr>
          <p:cNvSpPr txBox="1"/>
          <p:nvPr/>
        </p:nvSpPr>
        <p:spPr>
          <a:xfrm>
            <a:off x="473529" y="1739400"/>
            <a:ext cx="3684814" cy="50093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Admin </a:t>
            </a:r>
            <a:r>
              <a:rPr lang="en-US" dirty="0" err="1">
                <a:latin typeface="+mj-lt"/>
                <a:ea typeface="+mj-ea"/>
                <a:cs typeface="+mj-cs"/>
              </a:rPr>
              <a:t>dohvaća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sve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prijave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oglasa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Ruta je </a:t>
            </a:r>
            <a:r>
              <a:rPr lang="en-US" dirty="0" err="1">
                <a:latin typeface="+mj-lt"/>
                <a:ea typeface="+mj-ea"/>
                <a:cs typeface="+mj-cs"/>
              </a:rPr>
              <a:t>zaštićena</a:t>
            </a:r>
            <a:r>
              <a:rPr lang="en-US" dirty="0">
                <a:latin typeface="+mj-lt"/>
                <a:ea typeface="+mj-ea"/>
                <a:cs typeface="+mj-cs"/>
              </a:rPr>
              <a:t> s </a:t>
            </a:r>
            <a:r>
              <a:rPr lang="en-US" dirty="0" err="1">
                <a:latin typeface="+mj-lt"/>
                <a:ea typeface="+mj-ea"/>
                <a:cs typeface="+mj-cs"/>
              </a:rPr>
              <a:t>requireAuth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requireAdmin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Podaci</a:t>
            </a:r>
            <a:r>
              <a:rPr lang="en-US" dirty="0"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latin typeface="+mj-lt"/>
                <a:ea typeface="+mj-ea"/>
                <a:cs typeface="+mj-cs"/>
              </a:rPr>
              <a:t>uzimaju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iz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tablice</a:t>
            </a:r>
            <a:r>
              <a:rPr lang="en-US" dirty="0">
                <a:latin typeface="+mj-lt"/>
                <a:ea typeface="+mj-ea"/>
                <a:cs typeface="+mj-cs"/>
              </a:rPr>
              <a:t> PRIJAVA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JOIN </a:t>
            </a:r>
            <a:r>
              <a:rPr lang="en-US" dirty="0" err="1">
                <a:latin typeface="+mj-lt"/>
                <a:ea typeface="+mj-ea"/>
                <a:cs typeface="+mj-cs"/>
              </a:rPr>
              <a:t>povezuje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prijavu</a:t>
            </a:r>
            <a:r>
              <a:rPr lang="en-US" dirty="0">
                <a:latin typeface="+mj-lt"/>
                <a:ea typeface="+mj-ea"/>
                <a:cs typeface="+mj-cs"/>
              </a:rPr>
              <a:t> s </a:t>
            </a:r>
            <a:r>
              <a:rPr lang="en-US" dirty="0" err="1">
                <a:latin typeface="+mj-lt"/>
                <a:ea typeface="+mj-ea"/>
                <a:cs typeface="+mj-cs"/>
              </a:rPr>
              <a:t>oglasom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Admin </a:t>
            </a:r>
            <a:r>
              <a:rPr lang="en-US" dirty="0" err="1">
                <a:latin typeface="+mj-lt"/>
                <a:ea typeface="+mj-ea"/>
                <a:cs typeface="+mj-cs"/>
              </a:rPr>
              <a:t>vidi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oglas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prijavitelja</a:t>
            </a:r>
            <a:r>
              <a:rPr lang="en-US" dirty="0">
                <a:latin typeface="+mj-lt"/>
                <a:ea typeface="+mj-ea"/>
                <a:cs typeface="+mj-cs"/>
              </a:rPr>
              <a:t>, </a:t>
            </a:r>
            <a:r>
              <a:rPr lang="en-US" dirty="0" err="1">
                <a:latin typeface="+mj-lt"/>
                <a:ea typeface="+mj-ea"/>
                <a:cs typeface="+mj-cs"/>
              </a:rPr>
              <a:t>razlog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latin typeface="+mj-lt"/>
                <a:ea typeface="+mj-ea"/>
                <a:cs typeface="+mj-cs"/>
              </a:rPr>
              <a:t> status </a:t>
            </a:r>
            <a:r>
              <a:rPr lang="en-US" dirty="0" err="1">
                <a:latin typeface="+mj-lt"/>
                <a:ea typeface="+mj-ea"/>
                <a:cs typeface="+mj-cs"/>
              </a:rPr>
              <a:t>prijave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4729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7359A2-6691-993C-9027-1593220B57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29"/>
          <a:stretch>
            <a:fillRect/>
          </a:stretch>
        </p:blipFill>
        <p:spPr>
          <a:xfrm>
            <a:off x="4858668" y="370114"/>
            <a:ext cx="7182852" cy="63359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608851-6492-049E-6FC5-EEA251A753FE}"/>
              </a:ext>
            </a:extLst>
          </p:cNvPr>
          <p:cNvSpPr txBox="1"/>
          <p:nvPr/>
        </p:nvSpPr>
        <p:spPr>
          <a:xfrm>
            <a:off x="396077" y="151942"/>
            <a:ext cx="4462591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hr-HR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EBEBEB"/>
                </a:solidFill>
                <a:latin typeface="Century Gothic (body)"/>
                <a:ea typeface="+mj-ea"/>
                <a:cs typeface="+mj-cs"/>
              </a:rPr>
              <a:t>Admin obrada prijave oglasa</a:t>
            </a:r>
            <a:endParaRPr lang="en-US" sz="3600" dirty="0">
              <a:ln w="22225">
                <a:solidFill>
                  <a:schemeClr val="accent2"/>
                </a:solidFill>
                <a:prstDash val="solid"/>
              </a:ln>
              <a:solidFill>
                <a:srgbClr val="EBEBEB"/>
              </a:solidFill>
              <a:latin typeface="Century Gothic (body)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A727C-A143-C306-A17A-770195673ABF}"/>
              </a:ext>
            </a:extLst>
          </p:cNvPr>
          <p:cNvSpPr txBox="1"/>
          <p:nvPr/>
        </p:nvSpPr>
        <p:spPr>
          <a:xfrm>
            <a:off x="296394" y="1989943"/>
            <a:ext cx="446259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+mj-lt"/>
              </a:rPr>
              <a:t>Admin može odobriti ili odbiti prijavu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+mj-lt"/>
              </a:rPr>
              <a:t>Status prijave se mijenja u bazi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+mj-lt"/>
              </a:rPr>
              <a:t>Ako je prijava opravdana, oglas se označava kao obrisan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+mj-lt"/>
              </a:rPr>
              <a:t>Oglas se ne briše fizički iz baze, nego se deaktivira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r-HR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>
                <a:latin typeface="+mj-lt"/>
              </a:rPr>
              <a:t>Nakon obrade backend vraća potvrdu da je prijava obrađena.</a:t>
            </a:r>
          </a:p>
        </p:txBody>
      </p:sp>
    </p:spTree>
    <p:extLst>
      <p:ext uri="{BB962C8B-B14F-4D97-AF65-F5344CB8AC3E}">
        <p14:creationId xmlns:p14="http://schemas.microsoft.com/office/powerpoint/2010/main" val="2378379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DE03E-D6F4-430D-73DE-3F740A98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51EF5-3774-3F26-BBD1-9DC2C802AA5D}"/>
              </a:ext>
            </a:extLst>
          </p:cNvPr>
          <p:cNvSpPr txBox="1"/>
          <p:nvPr/>
        </p:nvSpPr>
        <p:spPr>
          <a:xfrm>
            <a:off x="233162" y="186813"/>
            <a:ext cx="3984011" cy="16419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Chat u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stvarnom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+mj-lt"/>
                <a:ea typeface="+mj-ea"/>
                <a:cs typeface="+mj-cs"/>
              </a:rPr>
              <a:t>vremenu</a:t>
            </a:r>
            <a:endParaRPr lang="en-US" sz="36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241E22-0EF3-9C41-6A16-43564D8ADC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0875"/>
          <a:stretch>
            <a:fillRect/>
          </a:stretch>
        </p:blipFill>
        <p:spPr>
          <a:xfrm>
            <a:off x="4634680" y="10"/>
            <a:ext cx="756013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26E2FAE-FA60-497B-B2CB-7702C6F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965CE-4129-CCEE-C810-16F8245D9962}"/>
              </a:ext>
            </a:extLst>
          </p:cNvPr>
          <p:cNvSpPr txBox="1"/>
          <p:nvPr/>
        </p:nvSpPr>
        <p:spPr>
          <a:xfrm>
            <a:off x="454915" y="1676400"/>
            <a:ext cx="3866713" cy="47026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Chat </a:t>
            </a:r>
            <a:r>
              <a:rPr lang="en-US" dirty="0" err="1">
                <a:latin typeface="+mj-lt"/>
                <a:ea typeface="+mj-ea"/>
                <a:cs typeface="+mj-cs"/>
              </a:rPr>
              <a:t>koristi</a:t>
            </a:r>
            <a:r>
              <a:rPr lang="en-US" dirty="0">
                <a:latin typeface="+mj-lt"/>
                <a:ea typeface="+mj-ea"/>
                <a:cs typeface="+mj-cs"/>
              </a:rPr>
              <a:t> Socket.IO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latin typeface="+mj-lt"/>
                <a:ea typeface="+mj-ea"/>
                <a:cs typeface="+mj-cs"/>
              </a:rPr>
              <a:t>povezuje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pomoću</a:t>
            </a:r>
            <a:r>
              <a:rPr lang="en-US" dirty="0">
                <a:latin typeface="+mj-lt"/>
                <a:ea typeface="+mj-ea"/>
                <a:cs typeface="+mj-cs"/>
              </a:rPr>
              <a:t> JWT </a:t>
            </a:r>
            <a:r>
              <a:rPr lang="en-US" dirty="0" err="1">
                <a:latin typeface="+mj-lt"/>
                <a:ea typeface="+mj-ea"/>
                <a:cs typeface="+mj-cs"/>
              </a:rPr>
              <a:t>tokena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Svaki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korisnik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ulazi</a:t>
            </a:r>
            <a:r>
              <a:rPr lang="en-US" dirty="0">
                <a:latin typeface="+mj-lt"/>
                <a:ea typeface="+mj-ea"/>
                <a:cs typeface="+mj-cs"/>
              </a:rPr>
              <a:t> u </a:t>
            </a:r>
            <a:r>
              <a:rPr lang="en-US" dirty="0" err="1">
                <a:latin typeface="+mj-lt"/>
                <a:ea typeface="+mj-ea"/>
                <a:cs typeface="+mj-cs"/>
              </a:rPr>
              <a:t>svoju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sobu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prema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emailu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Poruka</a:t>
            </a:r>
            <a:r>
              <a:rPr lang="en-US" dirty="0">
                <a:latin typeface="+mj-lt"/>
                <a:ea typeface="+mj-ea"/>
                <a:cs typeface="+mj-cs"/>
              </a:rPr>
              <a:t> se </a:t>
            </a:r>
            <a:r>
              <a:rPr lang="en-US" dirty="0" err="1">
                <a:latin typeface="+mj-lt"/>
                <a:ea typeface="+mj-ea"/>
                <a:cs typeface="+mj-cs"/>
              </a:rPr>
              <a:t>sprema</a:t>
            </a:r>
            <a:r>
              <a:rPr lang="en-US" dirty="0">
                <a:latin typeface="+mj-lt"/>
                <a:ea typeface="+mj-ea"/>
                <a:cs typeface="+mj-cs"/>
              </a:rPr>
              <a:t> u </a:t>
            </a:r>
            <a:r>
              <a:rPr lang="en-US" dirty="0" err="1">
                <a:latin typeface="+mj-lt"/>
                <a:ea typeface="+mj-ea"/>
                <a:cs typeface="+mj-cs"/>
              </a:rPr>
              <a:t>bazu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i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odmah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šalje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primatelju</a:t>
            </a: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latin typeface="+mj-lt"/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 err="1">
                <a:latin typeface="+mj-lt"/>
                <a:ea typeface="+mj-ea"/>
                <a:cs typeface="+mj-cs"/>
              </a:rPr>
              <a:t>Komunikacija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radi</a:t>
            </a:r>
            <a:r>
              <a:rPr lang="en-US" dirty="0">
                <a:latin typeface="+mj-lt"/>
                <a:ea typeface="+mj-ea"/>
                <a:cs typeface="+mj-cs"/>
              </a:rPr>
              <a:t> bez </a:t>
            </a:r>
            <a:r>
              <a:rPr lang="en-US" dirty="0" err="1">
                <a:latin typeface="+mj-lt"/>
                <a:ea typeface="+mj-ea"/>
                <a:cs typeface="+mj-cs"/>
              </a:rPr>
              <a:t>osvježavanja</a:t>
            </a:r>
            <a:r>
              <a:rPr lang="en-US" dirty="0"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</a:rPr>
              <a:t>stranice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52733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2CBA0-A073-2367-5B01-1FF91AB8C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046" y="1186542"/>
            <a:ext cx="9423798" cy="54344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043956-0DC7-4582-B7DD-54473D449AEA}"/>
              </a:ext>
            </a:extLst>
          </p:cNvPr>
          <p:cNvSpPr/>
          <p:nvPr/>
        </p:nvSpPr>
        <p:spPr>
          <a:xfrm>
            <a:off x="173777" y="137050"/>
            <a:ext cx="6037230" cy="5909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Century Gothic (headings)"/>
              </a:rPr>
              <a:t>Chat u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Century Gothic (headings)"/>
              </a:rPr>
              <a:t>stvarnom</a:t>
            </a:r>
            <a:r>
              <a:rPr lang="en-US" sz="360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Century Gothic (headings)"/>
              </a:rPr>
              <a:t> </a:t>
            </a:r>
            <a:r>
              <a:rPr lang="en-US" sz="360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latin typeface="Century Gothic (headings)"/>
              </a:rPr>
              <a:t>vremenu</a:t>
            </a:r>
            <a:endParaRPr lang="en-US" sz="360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/>
              </a:solidFill>
              <a:latin typeface="Century Gothic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382538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26632F-070E-3B7E-934B-2EA520027DB6}"/>
              </a:ext>
            </a:extLst>
          </p:cNvPr>
          <p:cNvSpPr/>
          <p:nvPr/>
        </p:nvSpPr>
        <p:spPr>
          <a:xfrm>
            <a:off x="118555" y="115278"/>
            <a:ext cx="683860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Zaključak</a:t>
            </a:r>
            <a:r>
              <a:rPr lang="en-US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</a:t>
            </a:r>
            <a:r>
              <a:rPr lang="en-US" sz="36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najveći</a:t>
            </a:r>
            <a:r>
              <a:rPr lang="en-US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6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izazov</a:t>
            </a:r>
            <a:r>
              <a:rPr lang="en-US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6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</a:t>
            </a:r>
            <a:r>
              <a:rPr lang="en-US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600" b="1" cap="none" spc="0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rješenje</a:t>
            </a:r>
            <a:endParaRPr lang="hr-HR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9F3F8-216D-C3B6-0CCF-B8E40E6468AD}"/>
              </a:ext>
            </a:extLst>
          </p:cNvPr>
          <p:cNvSpPr txBox="1"/>
          <p:nvPr/>
        </p:nvSpPr>
        <p:spPr>
          <a:xfrm>
            <a:off x="239484" y="931706"/>
            <a:ext cx="9067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Najveći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izazov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nije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jedna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funkcija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povezivanje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više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slojeva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sustava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tako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autorizacija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baza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chat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ostanu</a:t>
            </a:r>
            <a:r>
              <a:rPr lang="en-US" sz="1800" dirty="0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dirty="0" err="1">
                <a:solidFill>
                  <a:srgbClr val="C8D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konzistentni</a:t>
            </a:r>
            <a:endParaRPr lang="en-US" sz="18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23EEBD8-CE0F-7322-9500-A793190400AC}"/>
              </a:ext>
            </a:extLst>
          </p:cNvPr>
          <p:cNvSpPr/>
          <p:nvPr/>
        </p:nvSpPr>
        <p:spPr>
          <a:xfrm>
            <a:off x="3435532" y="3415067"/>
            <a:ext cx="4617720" cy="0"/>
          </a:xfrm>
          <a:prstGeom prst="line">
            <a:avLst/>
          </a:prstGeom>
          <a:noFill/>
          <a:ln w="29210">
            <a:solidFill>
              <a:srgbClr val="27D4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D615778-1FE9-705C-E5B0-DA94D132A13B}"/>
              </a:ext>
            </a:extLst>
          </p:cNvPr>
          <p:cNvSpPr/>
          <p:nvPr/>
        </p:nvSpPr>
        <p:spPr>
          <a:xfrm>
            <a:off x="1195252" y="2153195"/>
            <a:ext cx="2514600" cy="2514600"/>
          </a:xfrm>
          <a:prstGeom prst="ellipse">
            <a:avLst/>
          </a:prstGeom>
          <a:solidFill>
            <a:srgbClr val="17355E"/>
          </a:solidFill>
          <a:ln w="25400">
            <a:solidFill>
              <a:srgbClr val="FF696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0FE167C-3961-5485-0961-1C3EA69BFD36}"/>
              </a:ext>
            </a:extLst>
          </p:cNvPr>
          <p:cNvSpPr/>
          <p:nvPr/>
        </p:nvSpPr>
        <p:spPr>
          <a:xfrm>
            <a:off x="1689028" y="2756699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961"/>
                </a:solidFill>
              </a:rPr>
              <a:t>IZAZOV</a:t>
            </a:r>
            <a:endParaRPr lang="en-US" sz="1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30EF822-E9CD-544D-E10E-20353764A63D}"/>
              </a:ext>
            </a:extLst>
          </p:cNvPr>
          <p:cNvSpPr/>
          <p:nvPr/>
        </p:nvSpPr>
        <p:spPr>
          <a:xfrm>
            <a:off x="1579300" y="3095027"/>
            <a:ext cx="17373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Uskladiti frontend, backend, bazu i real-time komunikaciju</a:t>
            </a:r>
            <a:endParaRPr lang="en-US" sz="13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3A325A0-725E-E4F3-8CE5-7E402EE7EEEC}"/>
              </a:ext>
            </a:extLst>
          </p:cNvPr>
          <p:cNvSpPr/>
          <p:nvPr/>
        </p:nvSpPr>
        <p:spPr>
          <a:xfrm>
            <a:off x="8144692" y="2153195"/>
            <a:ext cx="2514600" cy="2514600"/>
          </a:xfrm>
          <a:prstGeom prst="ellipse">
            <a:avLst/>
          </a:prstGeom>
          <a:solidFill>
            <a:srgbClr val="18385D"/>
          </a:solidFill>
          <a:ln w="25400">
            <a:solidFill>
              <a:srgbClr val="54E6A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25DEB76-7505-9D8C-BAB0-6BE94E62D2E0}"/>
              </a:ext>
            </a:extLst>
          </p:cNvPr>
          <p:cNvSpPr/>
          <p:nvPr/>
        </p:nvSpPr>
        <p:spPr>
          <a:xfrm>
            <a:off x="8638468" y="2756699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4E6A5"/>
                </a:solidFill>
              </a:rPr>
              <a:t>RJEŠENJE</a:t>
            </a:r>
            <a:endParaRPr lang="en-US" sz="12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CFB4EB3-BC21-E695-37BD-8F5004C2978B}"/>
              </a:ext>
            </a:extLst>
          </p:cNvPr>
          <p:cNvSpPr/>
          <p:nvPr/>
        </p:nvSpPr>
        <p:spPr>
          <a:xfrm>
            <a:off x="8473876" y="3058451"/>
            <a:ext cx="18288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Jedan tok identiteta + backend provjere prije svake promjene podataka</a:t>
            </a:r>
            <a:endParaRPr lang="en-US" sz="125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3519CFB7-9DFB-0F25-AFBA-604C49138191}"/>
              </a:ext>
            </a:extLst>
          </p:cNvPr>
          <p:cNvSpPr/>
          <p:nvPr/>
        </p:nvSpPr>
        <p:spPr>
          <a:xfrm>
            <a:off x="4395652" y="2372651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A9652DA-2B25-4402-B0AE-CA93B1644E78}"/>
              </a:ext>
            </a:extLst>
          </p:cNvPr>
          <p:cNvSpPr/>
          <p:nvPr/>
        </p:nvSpPr>
        <p:spPr>
          <a:xfrm>
            <a:off x="4505380" y="2459519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JWT token</a:t>
            </a:r>
            <a:endParaRPr lang="en-US" sz="92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54DF8F3-AF1F-CD84-DE9A-AAF2E83AA7D3}"/>
              </a:ext>
            </a:extLst>
          </p:cNvPr>
          <p:cNvSpPr/>
          <p:nvPr/>
        </p:nvSpPr>
        <p:spPr>
          <a:xfrm>
            <a:off x="5511220" y="3177323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54E6A5"/>
          </a:solidFill>
          <a:ln w="12700">
            <a:solidFill>
              <a:srgbClr val="54E6A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62C7880-B42B-1598-605B-1FD36E622FE2}"/>
              </a:ext>
            </a:extLst>
          </p:cNvPr>
          <p:cNvSpPr/>
          <p:nvPr/>
        </p:nvSpPr>
        <p:spPr>
          <a:xfrm>
            <a:off x="5620948" y="3264191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0233F"/>
                </a:solidFill>
              </a:rPr>
              <a:t>requireAuth / requireAdmin</a:t>
            </a:r>
            <a:endParaRPr lang="en-US" sz="92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95CA4A0-EADB-4F63-8174-B9E0ABECDE8C}"/>
              </a:ext>
            </a:extLst>
          </p:cNvPr>
          <p:cNvSpPr/>
          <p:nvPr/>
        </p:nvSpPr>
        <p:spPr>
          <a:xfrm>
            <a:off x="4532812" y="3981995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355CE1"/>
          </a:solidFill>
          <a:ln w="12700">
            <a:solidFill>
              <a:srgbClr val="355C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28A5326-93CE-32F6-BB1E-7283A84EA938}"/>
              </a:ext>
            </a:extLst>
          </p:cNvPr>
          <p:cNvSpPr/>
          <p:nvPr/>
        </p:nvSpPr>
        <p:spPr>
          <a:xfrm>
            <a:off x="4642540" y="4068863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Socket.IO sobe po korisniku</a:t>
            </a:r>
            <a:endParaRPr lang="en-US" sz="92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A2735F5-0082-E904-2409-B03E6CC5027E}"/>
              </a:ext>
            </a:extLst>
          </p:cNvPr>
          <p:cNvSpPr/>
          <p:nvPr/>
        </p:nvSpPr>
        <p:spPr>
          <a:xfrm>
            <a:off x="239484" y="4950345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Kako smo to riješili u kodu</a:t>
            </a:r>
            <a:endParaRPr lang="en-US" sz="15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E221FC60-0855-F2C4-BBF9-764B57D084B7}"/>
              </a:ext>
            </a:extLst>
          </p:cNvPr>
          <p:cNvSpPr/>
          <p:nvPr/>
        </p:nvSpPr>
        <p:spPr>
          <a:xfrm>
            <a:off x="340288" y="5160657"/>
            <a:ext cx="10561320" cy="14026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70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Axios interceptor automatski šalje Authorization header</a:t>
            </a:r>
            <a:endParaRPr lang="en-US" sz="1700" dirty="0"/>
          </a:p>
          <a:p>
            <a:r>
              <a:rPr lang="en-US" sz="170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middleware provjerava token i </a:t>
            </a:r>
            <a:r>
              <a:rPr lang="en-US" sz="1700" dirty="0" err="1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ulogu</a:t>
            </a:r>
            <a:r>
              <a:rPr lang="en-US" sz="170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korisnika</a:t>
            </a:r>
            <a:endParaRPr lang="en-US" sz="1700" dirty="0"/>
          </a:p>
          <a:p>
            <a:r>
              <a:rPr lang="en-US" sz="170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Kupnja, recenzija i uređivanje provjeravaju vlasništvo/status </a:t>
            </a:r>
            <a:r>
              <a:rPr lang="en-US" sz="1700" dirty="0" err="1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</a:t>
            </a:r>
            <a:r>
              <a:rPr lang="en-US" sz="170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backendu</a:t>
            </a:r>
            <a:endParaRPr lang="en-US" sz="1700" dirty="0"/>
          </a:p>
          <a:p>
            <a:r>
              <a:rPr lang="en-US" sz="170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koristi token u Socket.IO handshakeu i emitira poruke samo </a:t>
            </a:r>
            <a:r>
              <a:rPr lang="en-US" sz="1700" dirty="0" err="1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relevantnim</a:t>
            </a:r>
            <a:r>
              <a:rPr lang="en-US" sz="170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korisnicima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52505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E015484-FDA6-C7DE-2B51-318A5AC12D60}"/>
              </a:ext>
            </a:extLst>
          </p:cNvPr>
          <p:cNvSpPr/>
          <p:nvPr/>
        </p:nvSpPr>
        <p:spPr>
          <a:xfrm>
            <a:off x="1115568" y="2788920"/>
            <a:ext cx="9875520" cy="0"/>
          </a:xfrm>
          <a:prstGeom prst="line">
            <a:avLst/>
          </a:prstGeom>
          <a:noFill/>
          <a:ln w="25400">
            <a:solidFill>
              <a:srgbClr val="B9C7DC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8ADF207-550B-5613-1D0B-7E63AD7C6A96}"/>
              </a:ext>
            </a:extLst>
          </p:cNvPr>
          <p:cNvSpPr/>
          <p:nvPr/>
        </p:nvSpPr>
        <p:spPr>
          <a:xfrm>
            <a:off x="932688" y="2624328"/>
            <a:ext cx="329184" cy="329184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E88D51-1DEA-2FCF-96FB-D2833AB0EB40}"/>
              </a:ext>
            </a:extLst>
          </p:cNvPr>
          <p:cNvSpPr/>
          <p:nvPr/>
        </p:nvSpPr>
        <p:spPr>
          <a:xfrm>
            <a:off x="1046988" y="2702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1</a:t>
            </a:r>
            <a:endParaRPr lang="en-US" sz="7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764473-9AED-FB78-DCB6-C36E60DF85AB}"/>
              </a:ext>
            </a:extLst>
          </p:cNvPr>
          <p:cNvSpPr/>
          <p:nvPr/>
        </p:nvSpPr>
        <p:spPr>
          <a:xfrm>
            <a:off x="292608" y="162763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3321BA-91EC-C72A-8818-7D2F8A37427E}"/>
              </a:ext>
            </a:extLst>
          </p:cNvPr>
          <p:cNvSpPr/>
          <p:nvPr/>
        </p:nvSpPr>
        <p:spPr>
          <a:xfrm>
            <a:off x="182880" y="19476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Vue 3 + Quasar komponente i router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3B4C6F-012C-745C-ACDF-430D0C27B8F6}"/>
              </a:ext>
            </a:extLst>
          </p:cNvPr>
          <p:cNvSpPr/>
          <p:nvPr/>
        </p:nvSpPr>
        <p:spPr>
          <a:xfrm>
            <a:off x="3236976" y="2624328"/>
            <a:ext cx="329184" cy="329184"/>
          </a:xfrm>
          <a:prstGeom prst="ellipse">
            <a:avLst/>
          </a:prstGeom>
          <a:solidFill>
            <a:srgbClr val="54E6A5"/>
          </a:solidFill>
          <a:ln w="12700">
            <a:solidFill>
              <a:srgbClr val="54E6A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3CD971-B4C9-343A-43B6-4D1E053B6203}"/>
              </a:ext>
            </a:extLst>
          </p:cNvPr>
          <p:cNvSpPr/>
          <p:nvPr/>
        </p:nvSpPr>
        <p:spPr>
          <a:xfrm>
            <a:off x="3351276" y="2702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2</a:t>
            </a:r>
            <a:endParaRPr lang="en-US" sz="78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77E8D0-9B6A-A826-9DB4-F3EAAAC48DF3}"/>
              </a:ext>
            </a:extLst>
          </p:cNvPr>
          <p:cNvSpPr/>
          <p:nvPr/>
        </p:nvSpPr>
        <p:spPr>
          <a:xfrm>
            <a:off x="2596896" y="315468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API sloj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534E521-8769-D19D-0697-381BA43C33BA}"/>
              </a:ext>
            </a:extLst>
          </p:cNvPr>
          <p:cNvSpPr/>
          <p:nvPr/>
        </p:nvSpPr>
        <p:spPr>
          <a:xfrm>
            <a:off x="2487168" y="3474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Express rute, validacija i JSON odgovori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C2AE2A-0D60-3257-2DB1-CC11E78D8C9F}"/>
              </a:ext>
            </a:extLst>
          </p:cNvPr>
          <p:cNvSpPr/>
          <p:nvPr/>
        </p:nvSpPr>
        <p:spPr>
          <a:xfrm>
            <a:off x="5522976" y="2624328"/>
            <a:ext cx="329184" cy="329184"/>
          </a:xfrm>
          <a:prstGeom prst="ellipse">
            <a:avLst/>
          </a:prstGeom>
          <a:solidFill>
            <a:srgbClr val="F8B84E"/>
          </a:solidFill>
          <a:ln w="12700">
            <a:solidFill>
              <a:srgbClr val="F8B84E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82EF61-C869-8830-38FB-1AFF33A622D2}"/>
              </a:ext>
            </a:extLst>
          </p:cNvPr>
          <p:cNvSpPr/>
          <p:nvPr/>
        </p:nvSpPr>
        <p:spPr>
          <a:xfrm>
            <a:off x="5637276" y="2702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3</a:t>
            </a:r>
            <a:endParaRPr lang="en-US" sz="78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BEF949-BB39-A711-BC72-9529E20718BA}"/>
              </a:ext>
            </a:extLst>
          </p:cNvPr>
          <p:cNvSpPr/>
          <p:nvPr/>
        </p:nvSpPr>
        <p:spPr>
          <a:xfrm>
            <a:off x="4882896" y="162763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Sigurnost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CF37883-220E-CA71-FA44-EAC833EEEAFB}"/>
              </a:ext>
            </a:extLst>
          </p:cNvPr>
          <p:cNvSpPr/>
          <p:nvPr/>
        </p:nvSpPr>
        <p:spPr>
          <a:xfrm>
            <a:off x="4773168" y="19476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JWT, middleware i provjera admin uloge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7341E12-599E-9972-2F56-5FE969B08DFA}"/>
              </a:ext>
            </a:extLst>
          </p:cNvPr>
          <p:cNvSpPr/>
          <p:nvPr/>
        </p:nvSpPr>
        <p:spPr>
          <a:xfrm>
            <a:off x="7808976" y="2624328"/>
            <a:ext cx="329184" cy="329184"/>
          </a:xfrm>
          <a:prstGeom prst="ellipse">
            <a:avLst/>
          </a:prstGeom>
          <a:solidFill>
            <a:srgbClr val="FF6961"/>
          </a:solidFill>
          <a:ln w="12700">
            <a:solidFill>
              <a:srgbClr val="FF696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32FDBAB-42AB-E8B4-384D-FF2B50ED4812}"/>
              </a:ext>
            </a:extLst>
          </p:cNvPr>
          <p:cNvSpPr/>
          <p:nvPr/>
        </p:nvSpPr>
        <p:spPr>
          <a:xfrm>
            <a:off x="7923276" y="2702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4</a:t>
            </a:r>
            <a:endParaRPr lang="en-US" sz="78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0B988E7-89D9-0E29-C63D-AF51CE77855E}"/>
              </a:ext>
            </a:extLst>
          </p:cNvPr>
          <p:cNvSpPr/>
          <p:nvPr/>
        </p:nvSpPr>
        <p:spPr>
          <a:xfrm>
            <a:off x="7168896" y="3154680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Baza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D8804D-E778-C81D-AF9B-1F462C60752D}"/>
              </a:ext>
            </a:extLst>
          </p:cNvPr>
          <p:cNvSpPr/>
          <p:nvPr/>
        </p:nvSpPr>
        <p:spPr>
          <a:xfrm>
            <a:off x="7059168" y="3474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MariaDB relacije, soft delete i statusi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71D11D1-76EE-ACF1-1AAD-39FBC72A7AA5}"/>
              </a:ext>
            </a:extLst>
          </p:cNvPr>
          <p:cNvSpPr/>
          <p:nvPr/>
        </p:nvSpPr>
        <p:spPr>
          <a:xfrm>
            <a:off x="10076688" y="2624328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7B58DCD-D038-5087-5EA5-2A5938E5F7BF}"/>
              </a:ext>
            </a:extLst>
          </p:cNvPr>
          <p:cNvSpPr/>
          <p:nvPr/>
        </p:nvSpPr>
        <p:spPr>
          <a:xfrm>
            <a:off x="10190988" y="270205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5</a:t>
            </a:r>
            <a:endParaRPr lang="en-US" sz="78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06EF7B6-3EBA-FDB6-ECA4-72F46C06E161}"/>
              </a:ext>
            </a:extLst>
          </p:cNvPr>
          <p:cNvSpPr/>
          <p:nvPr/>
        </p:nvSpPr>
        <p:spPr>
          <a:xfrm>
            <a:off x="9436608" y="1627632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Chat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5286213-18AB-AC26-E2C3-776F92B99B75}"/>
              </a:ext>
            </a:extLst>
          </p:cNvPr>
          <p:cNvSpPr/>
          <p:nvPr/>
        </p:nvSpPr>
        <p:spPr>
          <a:xfrm>
            <a:off x="9326880" y="19476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Socket.IO + REST fallback za poruke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F00AD9C-AF44-9DF9-2C5D-EBE43ABA6D84}"/>
              </a:ext>
            </a:extLst>
          </p:cNvPr>
          <p:cNvSpPr/>
          <p:nvPr/>
        </p:nvSpPr>
        <p:spPr>
          <a:xfrm>
            <a:off x="576943" y="4270249"/>
            <a:ext cx="10853057" cy="1042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Ključne odluke nisu ostavljene samo frontendu: backend provjerava tko je korisnik, smije li mijenjati oglas, smije li kupiti, smije li recenzirati i smije li ući u admin </a:t>
            </a:r>
            <a:r>
              <a:rPr lang="en-US" sz="1700" b="1" dirty="0" err="1">
                <a:solidFill>
                  <a:schemeClr val="bg1"/>
                </a:solidFill>
              </a:rPr>
              <a:t>dio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D215B19-FBF7-E717-A6C1-2B599C5F3E89}"/>
              </a:ext>
            </a:extLst>
          </p:cNvPr>
          <p:cNvSpPr/>
          <p:nvPr/>
        </p:nvSpPr>
        <p:spPr>
          <a:xfrm>
            <a:off x="576943" y="5367093"/>
            <a:ext cx="9619488" cy="60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To aplikaciju čini realnije postavljenom, jer se poslovna pravila i sigurnost nalaze na serveru, a ne samo u </a:t>
            </a:r>
            <a:r>
              <a:rPr lang="en-US" sz="1600" dirty="0" err="1"/>
              <a:t>prikazu</a:t>
            </a: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422693-7236-C15E-87B0-767C26176316}"/>
              </a:ext>
            </a:extLst>
          </p:cNvPr>
          <p:cNvSpPr/>
          <p:nvPr/>
        </p:nvSpPr>
        <p:spPr>
          <a:xfrm>
            <a:off x="182880" y="239191"/>
            <a:ext cx="827983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r-HR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Što je dobro napravljeno u aplikaciji</a:t>
            </a:r>
            <a:endParaRPr 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16725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AB655F1-E083-E783-C411-87313054744B}"/>
              </a:ext>
            </a:extLst>
          </p:cNvPr>
          <p:cNvSpPr/>
          <p:nvPr/>
        </p:nvSpPr>
        <p:spPr>
          <a:xfrm>
            <a:off x="475488" y="987553"/>
            <a:ext cx="9829800" cy="621789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>
              <a:buNone/>
            </a:pPr>
            <a:r>
              <a:rPr lang="en-US" sz="1700" dirty="0">
                <a:latin typeface="Aptos" pitchFamily="34" charset="0"/>
                <a:ea typeface="Aptos" pitchFamily="34" charset="-122"/>
                <a:cs typeface="Aptos" pitchFamily="34" charset="-120"/>
              </a:rPr>
              <a:t>Sustav je funkcionalan i zaokružen, ali bi se u sljedećoj fazi najviše isplatilo raditi na robusnosti, korisničkom iskustvu i </a:t>
            </a:r>
            <a:r>
              <a:rPr lang="en-US" sz="17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produkcijskoj</a:t>
            </a:r>
            <a:r>
              <a:rPr lang="en-US" sz="1700" dirty="0"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spremnosti</a:t>
            </a:r>
            <a:endParaRPr lang="en-US" sz="1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679113-8F38-11A6-0176-C0E75FB6E75E}"/>
              </a:ext>
            </a:extLst>
          </p:cNvPr>
          <p:cNvSpPr/>
          <p:nvPr/>
        </p:nvSpPr>
        <p:spPr>
          <a:xfrm>
            <a:off x="1143000" y="2907792"/>
            <a:ext cx="9829800" cy="0"/>
          </a:xfrm>
          <a:prstGeom prst="line">
            <a:avLst/>
          </a:prstGeom>
          <a:noFill/>
          <a:ln w="25400">
            <a:solidFill>
              <a:srgbClr val="B9C7DC"/>
            </a:solidFill>
            <a:prstDash val="solid"/>
            <a:tailEnd type="triangle"/>
          </a:ln>
        </p:spPr>
        <p:txBody>
          <a:bodyPr/>
          <a:lstStyle/>
          <a:p>
            <a:endParaRPr lang="hr-H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AC3D197-4868-DDE6-AB3A-094CF785CFFD}"/>
              </a:ext>
            </a:extLst>
          </p:cNvPr>
          <p:cNvSpPr/>
          <p:nvPr/>
        </p:nvSpPr>
        <p:spPr>
          <a:xfrm>
            <a:off x="960120" y="2578608"/>
            <a:ext cx="502920" cy="502920"/>
          </a:xfrm>
          <a:prstGeom prst="ellipse">
            <a:avLst/>
          </a:prstGeom>
          <a:solidFill>
            <a:srgbClr val="1E5BFF"/>
          </a:solidFill>
          <a:ln w="127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F6EA50-6C53-D4D6-EBFC-7DCC487CD68C}"/>
              </a:ext>
            </a:extLst>
          </p:cNvPr>
          <p:cNvSpPr/>
          <p:nvPr/>
        </p:nvSpPr>
        <p:spPr>
          <a:xfrm>
            <a:off x="1124712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2C9292D-5D24-2A08-2BD1-14A3A85F64BF}"/>
              </a:ext>
            </a:extLst>
          </p:cNvPr>
          <p:cNvSpPr/>
          <p:nvPr/>
        </p:nvSpPr>
        <p:spPr>
          <a:xfrm>
            <a:off x="1618488" y="2551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Robusnost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A083D7-EF98-FE42-9D75-48FA29472B84}"/>
              </a:ext>
            </a:extLst>
          </p:cNvPr>
          <p:cNvSpPr/>
          <p:nvPr/>
        </p:nvSpPr>
        <p:spPr>
          <a:xfrm>
            <a:off x="1618488" y="2907792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/>
              <a:t>Transakcije pri kupnji, prodaji i obavijestima; API testovi za </a:t>
            </a:r>
            <a:r>
              <a:rPr lang="en-US" sz="1300" dirty="0" err="1"/>
              <a:t>kritične</a:t>
            </a:r>
            <a:r>
              <a:rPr lang="en-US" sz="1300" dirty="0"/>
              <a:t> </a:t>
            </a:r>
            <a:r>
              <a:rPr lang="en-US" sz="1300" dirty="0" err="1"/>
              <a:t>rute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FB85E83-E5C4-0301-2CAC-59558418AC84}"/>
              </a:ext>
            </a:extLst>
          </p:cNvPr>
          <p:cNvSpPr/>
          <p:nvPr/>
        </p:nvSpPr>
        <p:spPr>
          <a:xfrm>
            <a:off x="4343400" y="2578608"/>
            <a:ext cx="502920" cy="502920"/>
          </a:xfrm>
          <a:prstGeom prst="ellipse">
            <a:avLst/>
          </a:prstGeom>
          <a:solidFill>
            <a:srgbClr val="54E6A5"/>
          </a:solidFill>
          <a:ln w="12700">
            <a:solidFill>
              <a:srgbClr val="54E6A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8E43E4A-B06A-5186-F996-9E45D950EBC5}"/>
              </a:ext>
            </a:extLst>
          </p:cNvPr>
          <p:cNvSpPr/>
          <p:nvPr/>
        </p:nvSpPr>
        <p:spPr>
          <a:xfrm>
            <a:off x="4507992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DB29FAA-52A5-4A61-E4D7-6B5C69BCD494}"/>
              </a:ext>
            </a:extLst>
          </p:cNvPr>
          <p:cNvSpPr/>
          <p:nvPr/>
        </p:nvSpPr>
        <p:spPr>
          <a:xfrm>
            <a:off x="5001768" y="2551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Korisničko iskustvo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5A1A5B-52B7-923F-4487-8951846873D3}"/>
              </a:ext>
            </a:extLst>
          </p:cNvPr>
          <p:cNvSpPr/>
          <p:nvPr/>
        </p:nvSpPr>
        <p:spPr>
          <a:xfrm>
            <a:off x="5001768" y="2907792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/>
              <a:t>Upload slika umjesto URL-a, paginacija oglasa i jasnije poruke </a:t>
            </a:r>
            <a:r>
              <a:rPr lang="en-US" sz="1300" dirty="0" err="1"/>
              <a:t>kod</a:t>
            </a:r>
            <a:r>
              <a:rPr lang="en-US" sz="1300" dirty="0"/>
              <a:t> </a:t>
            </a:r>
            <a:r>
              <a:rPr lang="en-US" sz="1300" dirty="0" err="1"/>
              <a:t>grešaka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F5E0177-924C-7F6F-144D-A52CF1D9A0B7}"/>
              </a:ext>
            </a:extLst>
          </p:cNvPr>
          <p:cNvSpPr/>
          <p:nvPr/>
        </p:nvSpPr>
        <p:spPr>
          <a:xfrm>
            <a:off x="7726680" y="2578608"/>
            <a:ext cx="502920" cy="502920"/>
          </a:xfrm>
          <a:prstGeom prst="ellipse">
            <a:avLst/>
          </a:prstGeom>
          <a:solidFill>
            <a:srgbClr val="F8B84E"/>
          </a:solidFill>
          <a:ln w="12700">
            <a:solidFill>
              <a:srgbClr val="F8B84E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F947057-2ABA-C747-FBC1-E41EE974D934}"/>
              </a:ext>
            </a:extLst>
          </p:cNvPr>
          <p:cNvSpPr/>
          <p:nvPr/>
        </p:nvSpPr>
        <p:spPr>
          <a:xfrm>
            <a:off x="7891272" y="26974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CB7F620-2082-B417-75D0-DAE2221F2CC2}"/>
              </a:ext>
            </a:extLst>
          </p:cNvPr>
          <p:cNvSpPr/>
          <p:nvPr/>
        </p:nvSpPr>
        <p:spPr>
          <a:xfrm>
            <a:off x="8385048" y="25511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Produkcija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71A65BC-1538-31F6-3609-B2EF1B25CBA6}"/>
              </a:ext>
            </a:extLst>
          </p:cNvPr>
          <p:cNvSpPr/>
          <p:nvPr/>
        </p:nvSpPr>
        <p:spPr>
          <a:xfrm>
            <a:off x="8385048" y="2907792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/>
              <a:t>Bolja .env konfiguracija, sigurniji CORS, deployment i eventualno refresh </a:t>
            </a:r>
            <a:r>
              <a:rPr lang="en-US" sz="1300" dirty="0" err="1"/>
              <a:t>tokeni</a:t>
            </a:r>
            <a:endParaRPr lang="en-US" sz="13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7B479FD-7C8E-C029-13A2-98CE63534CB1}"/>
              </a:ext>
            </a:extLst>
          </p:cNvPr>
          <p:cNvSpPr/>
          <p:nvPr/>
        </p:nvSpPr>
        <p:spPr>
          <a:xfrm>
            <a:off x="6089904" y="4434840"/>
            <a:ext cx="0" cy="1078992"/>
          </a:xfrm>
          <a:prstGeom prst="line">
            <a:avLst/>
          </a:prstGeom>
          <a:noFill/>
          <a:ln w="16510">
            <a:solidFill>
              <a:srgbClr val="D8E1E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3266AD4-9BE4-BEA1-7510-CF3EE0BE1D1F}"/>
              </a:ext>
            </a:extLst>
          </p:cNvPr>
          <p:cNvSpPr/>
          <p:nvPr/>
        </p:nvSpPr>
        <p:spPr>
          <a:xfrm>
            <a:off x="868680" y="43616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Što već funkcionira dobro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64806E1-5396-4DBF-0393-F6E783B9A88E}"/>
              </a:ext>
            </a:extLst>
          </p:cNvPr>
          <p:cNvSpPr/>
          <p:nvPr/>
        </p:nvSpPr>
        <p:spPr>
          <a:xfrm>
            <a:off x="6446520" y="436168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Što bi se još moglo poboljšati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0E0B64B-C433-BCA9-19BE-117666B5391B}"/>
              </a:ext>
            </a:extLst>
          </p:cNvPr>
          <p:cNvSpPr/>
          <p:nvPr/>
        </p:nvSpPr>
        <p:spPr>
          <a:xfrm>
            <a:off x="932688" y="4773167"/>
            <a:ext cx="4526280" cy="1298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Odvojeni frontend </a:t>
            </a:r>
            <a:r>
              <a:rPr lang="en-US" sz="1500" dirty="0" err="1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backend</a:t>
            </a:r>
            <a:endParaRPr lang="en-US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Autorizacija kroz JWT </a:t>
            </a:r>
            <a:r>
              <a:rPr lang="en-US" sz="1500" dirty="0" err="1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middleware</a:t>
            </a:r>
            <a:endParaRPr lang="en-US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Real-time chat </a:t>
            </a:r>
            <a:r>
              <a:rPr lang="en-US" sz="1500" dirty="0" err="1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i</a:t>
            </a:r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obavijesti</a:t>
            </a:r>
            <a:endParaRPr lang="en-US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Admin moderiranje prijava oglasa.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7D16675-2F61-06FB-373C-0AEC96A071F5}"/>
              </a:ext>
            </a:extLst>
          </p:cNvPr>
          <p:cNvSpPr/>
          <p:nvPr/>
        </p:nvSpPr>
        <p:spPr>
          <a:xfrm>
            <a:off x="6510528" y="4773167"/>
            <a:ext cx="4663440" cy="12139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Automatski testovi i jasnija validacija.</a:t>
            </a:r>
            <a:endParaRPr lang="en-US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Transakcije za kritične upise u bazu.</a:t>
            </a:r>
            <a:endParaRPr lang="en-US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Bolja obrada slika i upload datoteka.</a:t>
            </a:r>
            <a:endParaRPr lang="en-US" sz="1500" dirty="0">
              <a:latin typeface="Aptos" panose="020B0004020202020204" pitchFamily="34" charset="0"/>
            </a:endParaRPr>
          </a:p>
          <a:p>
            <a:r>
              <a:rPr lang="en-US" sz="1500" dirty="0"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Paginacija i optimizacija većih lista.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07EA7-84A7-5B2D-CEAC-6B2933E0C3FC}"/>
              </a:ext>
            </a:extLst>
          </p:cNvPr>
          <p:cNvSpPr/>
          <p:nvPr/>
        </p:nvSpPr>
        <p:spPr>
          <a:xfrm>
            <a:off x="338769" y="115747"/>
            <a:ext cx="541847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r-HR" sz="36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Objektivna poboljšanja</a:t>
            </a:r>
            <a:endParaRPr lang="en-US" sz="3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9039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01516D-74E6-CCAC-A5AE-CA94C26A3B47}"/>
              </a:ext>
            </a:extLst>
          </p:cNvPr>
          <p:cNvSpPr txBox="1"/>
          <p:nvPr/>
        </p:nvSpPr>
        <p:spPr>
          <a:xfrm>
            <a:off x="3048000" y="323344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Hvala na pažnji!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63702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656</TotalTime>
  <Words>1512</Words>
  <Application>Microsoft Office PowerPoint</Application>
  <PresentationFormat>Widescreen</PresentationFormat>
  <Paragraphs>278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Aptos Display</vt:lpstr>
      <vt:lpstr>Arial</vt:lpstr>
      <vt:lpstr>Century Gothic</vt:lpstr>
      <vt:lpstr>Century Gothic (body)</vt:lpstr>
      <vt:lpstr>Century Gothic (headings)</vt:lpstr>
      <vt:lpstr>Times New Roman</vt:lpstr>
      <vt:lpstr>Wingdings 3</vt:lpstr>
      <vt:lpstr>Ion</vt:lpstr>
      <vt:lpstr>PowerPoint Presentation</vt:lpstr>
      <vt:lpstr>OPIS SUSTAVA</vt:lpstr>
      <vt:lpstr>SVRHA I CILJEVI SUSTAVA </vt:lpstr>
      <vt:lpstr>DIJAGRAM DEKOMPOZICIJE FUNKCIJA</vt:lpstr>
      <vt:lpstr>Dijagram konteksta</vt:lpstr>
      <vt:lpstr>Dtp nulte razine</vt:lpstr>
      <vt:lpstr>DTP dijagram prve razine</vt:lpstr>
      <vt:lpstr>Use case dijagram</vt:lpstr>
      <vt:lpstr>Glavni slučajevi upotrebe</vt:lpstr>
      <vt:lpstr>Glavni slučajevi upotrebe</vt:lpstr>
      <vt:lpstr>PowerPoint Presentation</vt:lpstr>
      <vt:lpstr>Modeliranje podataka</vt:lpstr>
      <vt:lpstr>EV model</vt:lpstr>
      <vt:lpstr>Opis EV modela</vt:lpstr>
      <vt:lpstr>Relacijski model</vt:lpstr>
      <vt:lpstr>Baza podataka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Andrej Gasparovic</dc:creator>
  <cp:lastModifiedBy>Patrik Dukić</cp:lastModifiedBy>
  <cp:revision>10</cp:revision>
  <dcterms:created xsi:type="dcterms:W3CDTF">2026-05-25T21:30:24Z</dcterms:created>
  <dcterms:modified xsi:type="dcterms:W3CDTF">2026-06-08T16:17:06Z</dcterms:modified>
</cp:coreProperties>
</file>